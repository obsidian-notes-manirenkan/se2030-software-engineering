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Untitled Section" id="{5700ABCC-B5B7-4BD1-8CE5-BE84DA8D5670}">
          <p14:sldIdLst>
            <p14:sldId id="256"/>
            <p14:sldId id="257"/>
            <p14:sldId id="258"/>
            <p14:sldId id="259"/>
            <p14:sldId id="260"/>
            <p14:sldId id="261"/>
            <p14:sldId id="262"/>
            <p14:sldId id="263"/>
            <p14:sldId id="264"/>
            <p14:sldId id="265"/>
            <p14:sldId id="266"/>
            <p14:sldId id="267"/>
            <p14:sldId id="268"/>
            <p14:sldId id="269"/>
          </p14:sldIdLst>
        </p14:section>
      </p14:sectionLst>
    </p:ex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E52328"/>
    <a:srgbClr val="FF532B"/>
    <a:srgbClr val="FF8A27"/>
    <a:srgbClr val="FFE875"/>
    <a:srgbClr val="FFC043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1E4AEA4-8DFA-4A89-87EB-49C32662AFE0}" styleName="Medium Style 2 - Accent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1338" autoAdjust="0"/>
    <p:restoredTop sz="94660"/>
  </p:normalViewPr>
  <p:slideViewPr>
    <p:cSldViewPr snapToGrid="0" snapToObjects="1">
      <p:cViewPr varScale="1">
        <p:scale>
          <a:sx n="80" d="100"/>
          <a:sy n="80" d="100"/>
        </p:scale>
        <p:origin x="950" y="58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7/28/2026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7/28/2026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7/28/2026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7/28/2026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3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6.png"/><Relationship Id="rId4" Type="http://schemas.openxmlformats.org/officeDocument/2006/relationships/image" Target="../media/image5.png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12.png"/><Relationship Id="rId3" Type="http://schemas.openxmlformats.org/officeDocument/2006/relationships/image" Target="../media/image7.png"/><Relationship Id="rId7" Type="http://schemas.openxmlformats.org/officeDocument/2006/relationships/image" Target="../media/image11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0.png"/><Relationship Id="rId5" Type="http://schemas.openxmlformats.org/officeDocument/2006/relationships/image" Target="../media/image9.png"/><Relationship Id="rId4" Type="http://schemas.openxmlformats.org/officeDocument/2006/relationships/image" Target="../media/image8.png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18.png"/><Relationship Id="rId3" Type="http://schemas.openxmlformats.org/officeDocument/2006/relationships/image" Target="../media/image13.png"/><Relationship Id="rId7" Type="http://schemas.openxmlformats.org/officeDocument/2006/relationships/image" Target="../media/image17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6.png"/><Relationship Id="rId5" Type="http://schemas.openxmlformats.org/officeDocument/2006/relationships/image" Target="../media/image15.png"/><Relationship Id="rId4" Type="http://schemas.openxmlformats.org/officeDocument/2006/relationships/image" Target="../media/image14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7" Type="http://schemas.openxmlformats.org/officeDocument/2006/relationships/image" Target="../media/image23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22.png"/><Relationship Id="rId5" Type="http://schemas.openxmlformats.org/officeDocument/2006/relationships/image" Target="../media/image21.png"/><Relationship Id="rId4" Type="http://schemas.openxmlformats.org/officeDocument/2006/relationships/image" Target="../media/image20.png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25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25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25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7" Type="http://schemas.openxmlformats.org/officeDocument/2006/relationships/image" Target="../media/image30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29.png"/><Relationship Id="rId5" Type="http://schemas.openxmlformats.org/officeDocument/2006/relationships/image" Target="../media/image28.png"/><Relationship Id="rId4" Type="http://schemas.openxmlformats.org/officeDocument/2006/relationships/image" Target="../media/image27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1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34.png"/><Relationship Id="rId5" Type="http://schemas.openxmlformats.org/officeDocument/2006/relationships/image" Target="../media/image33.png"/><Relationship Id="rId4" Type="http://schemas.openxmlformats.org/officeDocument/2006/relationships/image" Target="../media/image32.png"/></Relationships>
</file>

<file path=ppt/slides/_rels/slide12.xml.rels><?xml version="1.0" encoding="UTF-8" standalone="yes"?>
<Relationships xmlns="http://schemas.openxmlformats.org/package/2006/relationships"><Relationship Id="rId8" Type="http://schemas.openxmlformats.org/officeDocument/2006/relationships/image" Target="../media/image40.png"/><Relationship Id="rId3" Type="http://schemas.openxmlformats.org/officeDocument/2006/relationships/image" Target="../media/image35.png"/><Relationship Id="rId7" Type="http://schemas.openxmlformats.org/officeDocument/2006/relationships/image" Target="../media/image39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38.png"/><Relationship Id="rId5" Type="http://schemas.openxmlformats.org/officeDocument/2006/relationships/image" Target="../media/image37.png"/><Relationship Id="rId4" Type="http://schemas.openxmlformats.org/officeDocument/2006/relationships/image" Target="../media/image36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2.png"/><Relationship Id="rId2" Type="http://schemas.openxmlformats.org/officeDocument/2006/relationships/image" Target="../media/image41.png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3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A0E2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438648" y="1824930"/>
            <a:ext cx="3429002" cy="480120"/>
          </a:xfrm>
          <a:prstGeom prst="rect">
            <a:avLst/>
          </a:prstGeom>
        </p:spPr>
      </p:pic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938337" y="3718470"/>
            <a:ext cx="8315325" cy="1304925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1938334" y="2505075"/>
            <a:ext cx="8315325" cy="2857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ts val="2250"/>
              </a:lnSpc>
            </a:pPr>
            <a:r>
              <a:rPr b="0" i="0" u="none" dirty="0">
                <a:solidFill>
                  <a:srgbClr val="FFD89B"/>
                </a:solidFill>
                <a:latin typeface="Plus Jakarta Sans Medium"/>
              </a:rPr>
              <a:t>SE2030 Software Engineering | Year 2, Semester 1, 2026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938337" y="2975520"/>
            <a:ext cx="8315325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ts val="1800"/>
              </a:lnSpc>
            </a:pPr>
            <a:r>
              <a:rPr sz="1600" b="0" i="0" u="none" dirty="0">
                <a:solidFill>
                  <a:srgbClr val="FA8228"/>
                </a:solidFill>
                <a:latin typeface="Plus Jakarta Sans SemiBold"/>
              </a:rPr>
              <a:t>Group ID: 2026-Y2-S1-MLB-B10G1-02 | SLIIT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138362" y="3918495"/>
            <a:ext cx="2543175" cy="43088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400" b="1" i="0" u="none" dirty="0" err="1">
                <a:solidFill>
                  <a:srgbClr val="FBB040"/>
                </a:solidFill>
                <a:latin typeface="Plus Jakarta Sans"/>
              </a:rPr>
              <a:t>Chathuranga</a:t>
            </a:r>
            <a:r>
              <a:rPr sz="1400" b="1" i="0" u="none" dirty="0">
                <a:solidFill>
                  <a:srgbClr val="FBB040"/>
                </a:solidFill>
                <a:latin typeface="Plus Jakarta Sans"/>
              </a:rPr>
              <a:t> B.G.</a:t>
            </a:r>
            <a:r>
              <a:rPr sz="1400" b="0" i="0" u="none" dirty="0">
                <a:solidFill>
                  <a:srgbClr val="F8FAFC"/>
                </a:solidFill>
                <a:latin typeface="Plus Jakarta Sans"/>
              </a:rPr>
              <a:t> </a:t>
            </a:r>
            <a:endParaRPr lang="en-GB" sz="1400" b="0" i="0" u="none" dirty="0">
              <a:solidFill>
                <a:srgbClr val="F8FAFC"/>
              </a:solidFill>
              <a:latin typeface="Plus Jakarta Sans"/>
            </a:endParaRPr>
          </a:p>
          <a:p>
            <a:pPr algn="l"/>
            <a:r>
              <a:rPr sz="1400" b="0" i="0" u="none" dirty="0">
                <a:solidFill>
                  <a:srgbClr val="FFFFFF"/>
                </a:solidFill>
                <a:latin typeface="Plus Jakarta Sans"/>
              </a:rPr>
              <a:t>IT25101514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824412" y="3918495"/>
            <a:ext cx="2543175" cy="43088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400" b="1" i="0" u="none" dirty="0" err="1">
                <a:solidFill>
                  <a:srgbClr val="FBB040"/>
                </a:solidFill>
                <a:latin typeface="Plus Jakarta Sans"/>
              </a:rPr>
              <a:t>Wickramarathna</a:t>
            </a:r>
            <a:r>
              <a:rPr sz="1400" b="1" i="0" u="none" dirty="0">
                <a:solidFill>
                  <a:srgbClr val="FBB040"/>
                </a:solidFill>
                <a:latin typeface="Plus Jakarta Sans"/>
              </a:rPr>
              <a:t> W.L.S.</a:t>
            </a:r>
            <a:r>
              <a:rPr sz="1400" b="0" i="0" u="none" dirty="0">
                <a:solidFill>
                  <a:srgbClr val="F8FAFC"/>
                </a:solidFill>
                <a:latin typeface="Plus Jakarta Sans"/>
              </a:rPr>
              <a:t> </a:t>
            </a:r>
            <a:r>
              <a:rPr sz="1400" b="0" i="0" u="none" dirty="0">
                <a:solidFill>
                  <a:srgbClr val="FFFFFF"/>
                </a:solidFill>
                <a:latin typeface="Plus Jakarta Sans"/>
              </a:rPr>
              <a:t>IT25102322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510462" y="3918495"/>
            <a:ext cx="2543175" cy="43088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400" b="1" i="0" u="none" dirty="0" err="1">
                <a:solidFill>
                  <a:srgbClr val="FBB040"/>
                </a:solidFill>
                <a:latin typeface="Plus Jakarta Sans"/>
              </a:rPr>
              <a:t>Keshavan</a:t>
            </a:r>
            <a:r>
              <a:rPr sz="1400" b="1" i="0" u="none" dirty="0">
                <a:solidFill>
                  <a:srgbClr val="FBB040"/>
                </a:solidFill>
                <a:latin typeface="Plus Jakarta Sans"/>
              </a:rPr>
              <a:t> M.</a:t>
            </a:r>
            <a:r>
              <a:rPr sz="1400" b="0" i="0" u="none" dirty="0">
                <a:solidFill>
                  <a:srgbClr val="F8FAFC"/>
                </a:solidFill>
                <a:latin typeface="Plus Jakarta Sans"/>
              </a:rPr>
              <a:t> </a:t>
            </a:r>
            <a:endParaRPr lang="en-GB" sz="1400" b="0" i="0" u="none" dirty="0">
              <a:solidFill>
                <a:srgbClr val="F8FAFC"/>
              </a:solidFill>
              <a:latin typeface="Plus Jakarta Sans"/>
            </a:endParaRPr>
          </a:p>
          <a:p>
            <a:pPr algn="l"/>
            <a:r>
              <a:rPr sz="1400" b="0" i="0" u="none" dirty="0">
                <a:solidFill>
                  <a:srgbClr val="FFFFFF"/>
                </a:solidFill>
                <a:latin typeface="Plus Jakarta Sans"/>
              </a:rPr>
              <a:t>IT25103301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138362" y="4442370"/>
            <a:ext cx="2543175" cy="43088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400" b="1" i="0" u="none" dirty="0" err="1">
                <a:solidFill>
                  <a:srgbClr val="FBB040"/>
                </a:solidFill>
                <a:latin typeface="Plus Jakarta Sans"/>
              </a:rPr>
              <a:t>Suriyage</a:t>
            </a:r>
            <a:r>
              <a:rPr sz="1400" b="1" i="0" u="none" dirty="0">
                <a:solidFill>
                  <a:srgbClr val="FBB040"/>
                </a:solidFill>
                <a:latin typeface="Plus Jakarta Sans"/>
              </a:rPr>
              <a:t> O.W.</a:t>
            </a:r>
            <a:r>
              <a:rPr sz="1400" b="0" i="0" u="none" dirty="0">
                <a:solidFill>
                  <a:srgbClr val="F8FAFC"/>
                </a:solidFill>
                <a:latin typeface="Plus Jakarta Sans"/>
              </a:rPr>
              <a:t> </a:t>
            </a:r>
            <a:endParaRPr lang="en-GB" sz="1400" b="0" i="0" u="none" dirty="0">
              <a:solidFill>
                <a:srgbClr val="F8FAFC"/>
              </a:solidFill>
              <a:latin typeface="Plus Jakarta Sans"/>
            </a:endParaRPr>
          </a:p>
          <a:p>
            <a:pPr algn="l"/>
            <a:r>
              <a:rPr sz="1400" b="0" i="0" u="none" dirty="0">
                <a:solidFill>
                  <a:srgbClr val="FFFFFF"/>
                </a:solidFill>
                <a:latin typeface="Plus Jakarta Sans"/>
              </a:rPr>
              <a:t>IT25100916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824412" y="4442370"/>
            <a:ext cx="2543175" cy="43088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400" b="1" i="0" u="none" dirty="0" err="1">
                <a:solidFill>
                  <a:srgbClr val="FBB040"/>
                </a:solidFill>
                <a:latin typeface="Plus Jakarta Sans"/>
              </a:rPr>
              <a:t>Gunasekara</a:t>
            </a:r>
            <a:r>
              <a:rPr sz="1400" b="1" i="0" u="none" dirty="0">
                <a:solidFill>
                  <a:srgbClr val="FBB040"/>
                </a:solidFill>
                <a:latin typeface="Plus Jakarta Sans"/>
              </a:rPr>
              <a:t> N.B.</a:t>
            </a:r>
            <a:r>
              <a:rPr sz="1400" b="0" i="0" u="none" dirty="0">
                <a:solidFill>
                  <a:srgbClr val="F8FAFC"/>
                </a:solidFill>
                <a:latin typeface="Plus Jakarta Sans"/>
              </a:rPr>
              <a:t> </a:t>
            </a:r>
            <a:endParaRPr lang="en-GB" sz="1400" b="0" i="0" u="none" dirty="0">
              <a:solidFill>
                <a:srgbClr val="F8FAFC"/>
              </a:solidFill>
              <a:latin typeface="Plus Jakarta Sans"/>
            </a:endParaRPr>
          </a:p>
          <a:p>
            <a:pPr algn="l"/>
            <a:r>
              <a:rPr sz="1400" b="0" i="0" u="none" dirty="0">
                <a:solidFill>
                  <a:srgbClr val="FFFFFF"/>
                </a:solidFill>
                <a:latin typeface="Plus Jakarta Sans"/>
              </a:rPr>
              <a:t>IT25102923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510462" y="4442370"/>
            <a:ext cx="2543175" cy="43088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400" b="1" i="0" u="none" dirty="0" err="1">
                <a:solidFill>
                  <a:srgbClr val="FBB040"/>
                </a:solidFill>
                <a:latin typeface="Plus Jakarta Sans"/>
              </a:rPr>
              <a:t>Wickramasinghage</a:t>
            </a:r>
            <a:r>
              <a:rPr sz="1400" b="1" i="0" u="none" dirty="0">
                <a:solidFill>
                  <a:srgbClr val="FBB040"/>
                </a:solidFill>
                <a:latin typeface="Plus Jakarta Sans"/>
              </a:rPr>
              <a:t> C.P.W.</a:t>
            </a:r>
            <a:r>
              <a:rPr sz="1400" b="0" i="0" u="none" dirty="0">
                <a:solidFill>
                  <a:srgbClr val="F8FAFC"/>
                </a:solidFill>
                <a:latin typeface="Plus Jakarta Sans"/>
              </a:rPr>
              <a:t> </a:t>
            </a:r>
            <a:r>
              <a:rPr sz="1400" b="0" i="0" u="none" dirty="0">
                <a:solidFill>
                  <a:srgbClr val="FFFFFF"/>
                </a:solidFill>
                <a:latin typeface="Plus Jakarta Sans"/>
              </a:rPr>
              <a:t>IT25100220</a:t>
            </a:r>
          </a:p>
        </p:txBody>
      </p:sp>
      <p:graphicFrame>
        <p:nvGraphicFramePr>
          <p:cNvPr id="14" name="Table 14">
            <a:extLst>
              <a:ext uri="{FF2B5EF4-FFF2-40B4-BE49-F238E27FC236}">
                <a16:creationId xmlns:a16="http://schemas.microsoft.com/office/drawing/2014/main" id="{FE7B4DA7-9973-49B5-89A1-FCD799EB0EE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516632687"/>
              </p:ext>
            </p:extLst>
          </p:nvPr>
        </p:nvGraphicFramePr>
        <p:xfrm>
          <a:off x="-1" y="9375"/>
          <a:ext cx="12191999" cy="1358355"/>
        </p:xfrm>
        <a:graphic>
          <a:graphicData uri="http://schemas.openxmlformats.org/drawingml/2006/table">
            <a:tbl>
              <a:tblPr firstRow="1" bandRow="1">
                <a:tableStyleId>{21E4AEA4-8DFA-4A89-87EB-49C32662AFE0}</a:tableStyleId>
              </a:tblPr>
              <a:tblGrid>
                <a:gridCol w="12191999">
                  <a:extLst>
                    <a:ext uri="{9D8B030D-6E8A-4147-A177-3AD203B41FA5}">
                      <a16:colId xmlns:a16="http://schemas.microsoft.com/office/drawing/2014/main" val="925838311"/>
                    </a:ext>
                  </a:extLst>
                </a:gridCol>
              </a:tblGrid>
              <a:tr h="1358355"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5232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88619712"/>
                  </a:ext>
                </a:extLst>
              </a:tr>
            </a:tbl>
          </a:graphicData>
        </a:graphic>
      </p:graphicFrame>
      <p:sp>
        <p:nvSpPr>
          <p:cNvPr id="16" name="TextBox 15">
            <a:extLst>
              <a:ext uri="{FF2B5EF4-FFF2-40B4-BE49-F238E27FC236}">
                <a16:creationId xmlns:a16="http://schemas.microsoft.com/office/drawing/2014/main" id="{59F44C65-3CE9-4021-B1CB-478876B8C861}"/>
              </a:ext>
            </a:extLst>
          </p:cNvPr>
          <p:cNvSpPr txBox="1"/>
          <p:nvPr/>
        </p:nvSpPr>
        <p:spPr>
          <a:xfrm>
            <a:off x="1938337" y="466575"/>
            <a:ext cx="8731091" cy="56956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ts val="4484"/>
              </a:lnSpc>
            </a:pPr>
            <a:r>
              <a:rPr sz="3900" b="1" i="0" u="none" dirty="0">
                <a:solidFill>
                  <a:srgbClr val="FFFFFF"/>
                </a:solidFill>
                <a:latin typeface="Space Grotesk"/>
              </a:rPr>
              <a:t>Web-Based Event Planning System</a:t>
            </a:r>
          </a:p>
        </p:txBody>
      </p:sp>
      <p:sp>
        <p:nvSpPr>
          <p:cNvPr id="15" name="Shape 0">
            <a:extLst>
              <a:ext uri="{FF2B5EF4-FFF2-40B4-BE49-F238E27FC236}">
                <a16:creationId xmlns:a16="http://schemas.microsoft.com/office/drawing/2014/main" id="{DD8A58D7-5725-4B5F-AE05-CE76CED1BC1F}"/>
              </a:ext>
            </a:extLst>
          </p:cNvPr>
          <p:cNvSpPr/>
          <p:nvPr/>
        </p:nvSpPr>
        <p:spPr>
          <a:xfrm>
            <a:off x="7720007" y="5369273"/>
            <a:ext cx="1371600" cy="1371600"/>
          </a:xfrm>
          <a:prstGeom prst="ellipse">
            <a:avLst/>
          </a:prstGeom>
          <a:solidFill>
            <a:srgbClr val="B00026"/>
          </a:solidFill>
          <a:ln/>
        </p:spPr>
        <p:txBody>
          <a:bodyPr/>
          <a:lstStyle/>
          <a:p>
            <a:endParaRPr lang="en-US" dirty="0"/>
          </a:p>
        </p:txBody>
      </p:sp>
      <p:sp>
        <p:nvSpPr>
          <p:cNvPr id="18" name="Shape 1">
            <a:extLst>
              <a:ext uri="{FF2B5EF4-FFF2-40B4-BE49-F238E27FC236}">
                <a16:creationId xmlns:a16="http://schemas.microsoft.com/office/drawing/2014/main" id="{E468AFDE-250C-4A66-9C51-0310BB318098}"/>
              </a:ext>
            </a:extLst>
          </p:cNvPr>
          <p:cNvSpPr/>
          <p:nvPr/>
        </p:nvSpPr>
        <p:spPr>
          <a:xfrm>
            <a:off x="8443909" y="5369273"/>
            <a:ext cx="1371600" cy="1371600"/>
          </a:xfrm>
          <a:prstGeom prst="ellipse">
            <a:avLst/>
          </a:prstGeom>
          <a:solidFill>
            <a:srgbClr val="E3191C"/>
          </a:solidFill>
          <a:ln/>
        </p:spPr>
        <p:txBody>
          <a:bodyPr/>
          <a:lstStyle/>
          <a:p>
            <a:endParaRPr lang="en-US" dirty="0"/>
          </a:p>
        </p:txBody>
      </p:sp>
      <p:sp>
        <p:nvSpPr>
          <p:cNvPr id="19" name="Shape 2">
            <a:extLst>
              <a:ext uri="{FF2B5EF4-FFF2-40B4-BE49-F238E27FC236}">
                <a16:creationId xmlns:a16="http://schemas.microsoft.com/office/drawing/2014/main" id="{F6BCD0DF-FEC9-4AAE-872C-33AC0EA07DD4}"/>
              </a:ext>
            </a:extLst>
          </p:cNvPr>
          <p:cNvSpPr/>
          <p:nvPr/>
        </p:nvSpPr>
        <p:spPr>
          <a:xfrm>
            <a:off x="9167811" y="5362425"/>
            <a:ext cx="1371600" cy="1371600"/>
          </a:xfrm>
          <a:prstGeom prst="ellipse">
            <a:avLst/>
          </a:prstGeom>
          <a:solidFill>
            <a:srgbClr val="FC4E2B"/>
          </a:solidFill>
          <a:ln/>
        </p:spPr>
        <p:txBody>
          <a:bodyPr/>
          <a:lstStyle/>
          <a:p>
            <a:endParaRPr lang="en-US" dirty="0"/>
          </a:p>
        </p:txBody>
      </p:sp>
      <p:sp>
        <p:nvSpPr>
          <p:cNvPr id="20" name="Shape 3">
            <a:extLst>
              <a:ext uri="{FF2B5EF4-FFF2-40B4-BE49-F238E27FC236}">
                <a16:creationId xmlns:a16="http://schemas.microsoft.com/office/drawing/2014/main" id="{0253E3E5-CCB3-44E5-A7F5-4FF62CACE1F6}"/>
              </a:ext>
            </a:extLst>
          </p:cNvPr>
          <p:cNvSpPr/>
          <p:nvPr/>
        </p:nvSpPr>
        <p:spPr>
          <a:xfrm>
            <a:off x="9815509" y="5385235"/>
            <a:ext cx="1371600" cy="1371600"/>
          </a:xfrm>
          <a:prstGeom prst="ellipse">
            <a:avLst/>
          </a:prstGeom>
          <a:solidFill>
            <a:srgbClr val="FFB24C"/>
          </a:solidFill>
          <a:ln/>
        </p:spPr>
      </p:sp>
      <p:sp>
        <p:nvSpPr>
          <p:cNvPr id="21" name="Shape 4">
            <a:extLst>
              <a:ext uri="{FF2B5EF4-FFF2-40B4-BE49-F238E27FC236}">
                <a16:creationId xmlns:a16="http://schemas.microsoft.com/office/drawing/2014/main" id="{1DF7198E-93C5-4330-AC5F-435014F30220}"/>
              </a:ext>
            </a:extLst>
          </p:cNvPr>
          <p:cNvSpPr/>
          <p:nvPr/>
        </p:nvSpPr>
        <p:spPr>
          <a:xfrm>
            <a:off x="10501309" y="5385235"/>
            <a:ext cx="1371600" cy="1371600"/>
          </a:xfrm>
          <a:prstGeom prst="ellipse">
            <a:avLst/>
          </a:prstGeom>
          <a:solidFill>
            <a:srgbClr val="FFDA75"/>
          </a:solidFill>
          <a:ln/>
        </p:spPr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A0E2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1500" y="2276475"/>
            <a:ext cx="5381625" cy="2876550"/>
          </a:xfrm>
          <a:prstGeom prst="rect">
            <a:avLst/>
          </a:prstGeom>
        </p:spPr>
      </p:pic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38875" y="2276475"/>
            <a:ext cx="5381625" cy="2876550"/>
          </a:xfrm>
          <a:prstGeom prst="rect">
            <a:avLst/>
          </a:prstGeom>
        </p:spPr>
      </p:pic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12958" y="2566987"/>
            <a:ext cx="2651263" cy="314325"/>
          </a:xfrm>
          <a:prstGeom prst="rect">
            <a:avLst/>
          </a:prstGeom>
        </p:spPr>
      </p:pic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515100" y="2595562"/>
            <a:ext cx="2261773" cy="314325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847725" y="3028950"/>
            <a:ext cx="5070633" cy="2667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650" b="1" i="0" u="none" dirty="0">
                <a:solidFill>
                  <a:srgbClr val="FCD865"/>
                </a:solidFill>
                <a:latin typeface="Space Grotesk"/>
              </a:rPr>
              <a:t>The Problem Statement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47725" y="3390900"/>
            <a:ext cx="4829175" cy="69249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800"/>
              </a:lnSpc>
            </a:pPr>
            <a:r>
              <a:rPr sz="1600" b="0" i="0" u="none" dirty="0">
                <a:solidFill>
                  <a:srgbClr val="E2E8F0"/>
                </a:solidFill>
                <a:latin typeface="Plus Jakarta Sans"/>
              </a:rPr>
              <a:t>Traditional event planning relies heavily on fragmented channels like direct calls, emails, messaging apps, and spreadsheets.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47725" y="4197697"/>
            <a:ext cx="4829175" cy="6858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800"/>
              </a:lnSpc>
            </a:pPr>
            <a:r>
              <a:rPr sz="1600" b="0" i="0" u="none" dirty="0">
                <a:solidFill>
                  <a:srgbClr val="CBD5E1"/>
                </a:solidFill>
                <a:latin typeface="Plus Jakarta Sans"/>
              </a:rPr>
              <a:t>This leads to major operational flaws: communication gaps, double-booking errors, delayed approvals, and lost inventory records.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515100" y="3028950"/>
            <a:ext cx="5070633" cy="2667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650" b="1" i="0" u="none">
                <a:solidFill>
                  <a:srgbClr val="FCD865"/>
                </a:solidFill>
                <a:latin typeface="Space Grotesk"/>
              </a:rPr>
              <a:t>Centralized Event Platform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515100" y="3390900"/>
            <a:ext cx="4829175" cy="6858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800"/>
              </a:lnSpc>
            </a:pPr>
            <a:r>
              <a:rPr sz="1600" b="0" i="0" u="none" dirty="0">
                <a:solidFill>
                  <a:srgbClr val="E2E8F0"/>
                </a:solidFill>
                <a:latin typeface="Plus Jakarta Sans"/>
              </a:rPr>
              <a:t>A unified Web Application consolidating coordinators, venue owners, vendors, inventory staff, and clients into a single digital workspace.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648450" y="4191000"/>
            <a:ext cx="5715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0" i="0" u="none">
                <a:solidFill>
                  <a:srgbClr val="E2E8F0"/>
                </a:solidFill>
                <a:latin typeface="Plus Jakarta Sans"/>
              </a:rPr>
              <a:t>▪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705600" y="4191000"/>
            <a:ext cx="4638675" cy="228600"/>
          </a:xfrm>
          <a:prstGeom prst="rect">
            <a:avLst/>
          </a:prstGeom>
          <a:noFill/>
        </p:spPr>
        <p:txBody>
          <a:bodyPr wrap="square" lIns="57150" tIns="0" rIns="0" bIns="0" anchor="t">
            <a:spAutoFit/>
          </a:bodyPr>
          <a:lstStyle/>
          <a:p>
            <a:pPr algn="l">
              <a:lnSpc>
                <a:spcPts val="1800"/>
              </a:lnSpc>
            </a:pPr>
            <a:r>
              <a:rPr sz="1600" b="1" i="0" u="none" dirty="0">
                <a:solidFill>
                  <a:srgbClr val="E2E8F0"/>
                </a:solidFill>
                <a:latin typeface="Plus Jakarta Sans"/>
              </a:rPr>
              <a:t>Automation:</a:t>
            </a:r>
            <a:r>
              <a:rPr sz="1600" b="0" i="0" u="none" dirty="0">
                <a:solidFill>
                  <a:srgbClr val="E2E8F0"/>
                </a:solidFill>
                <a:latin typeface="Plus Jakarta Sans"/>
              </a:rPr>
              <a:t> Real-time booking locks &amp; workflows.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648450" y="4419600"/>
            <a:ext cx="5715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0" i="0" u="none">
                <a:solidFill>
                  <a:srgbClr val="E2E8F0"/>
                </a:solidFill>
                <a:latin typeface="Plus Jakarta Sans"/>
              </a:rPr>
              <a:t>▪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705600" y="4419600"/>
            <a:ext cx="4638675" cy="228600"/>
          </a:xfrm>
          <a:prstGeom prst="rect">
            <a:avLst/>
          </a:prstGeom>
          <a:noFill/>
        </p:spPr>
        <p:txBody>
          <a:bodyPr wrap="square" lIns="57150" tIns="0" rIns="0" bIns="0" anchor="t">
            <a:spAutoFit/>
          </a:bodyPr>
          <a:lstStyle/>
          <a:p>
            <a:pPr algn="l">
              <a:lnSpc>
                <a:spcPts val="1800"/>
              </a:lnSpc>
            </a:pPr>
            <a:r>
              <a:rPr sz="1600" b="1" i="0" u="none" dirty="0">
                <a:solidFill>
                  <a:srgbClr val="E2E8F0"/>
                </a:solidFill>
                <a:latin typeface="Plus Jakarta Sans"/>
              </a:rPr>
              <a:t>Error Reduction:</a:t>
            </a:r>
            <a:r>
              <a:rPr sz="1600" b="0" i="0" u="none" dirty="0">
                <a:solidFill>
                  <a:srgbClr val="E2E8F0"/>
                </a:solidFill>
                <a:latin typeface="Plus Jakarta Sans"/>
              </a:rPr>
              <a:t> Eliminates missing assets &amp; conflicts.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648450" y="4648200"/>
            <a:ext cx="5715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0" i="0" u="none">
                <a:solidFill>
                  <a:srgbClr val="E2E8F0"/>
                </a:solidFill>
                <a:latin typeface="Plus Jakarta Sans"/>
              </a:rPr>
              <a:t>▪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705600" y="4648200"/>
            <a:ext cx="4638675" cy="228600"/>
          </a:xfrm>
          <a:prstGeom prst="rect">
            <a:avLst/>
          </a:prstGeom>
          <a:noFill/>
        </p:spPr>
        <p:txBody>
          <a:bodyPr wrap="square" lIns="57150" tIns="0" rIns="0" bIns="0" anchor="t">
            <a:spAutoFit/>
          </a:bodyPr>
          <a:lstStyle/>
          <a:p>
            <a:pPr algn="l">
              <a:lnSpc>
                <a:spcPts val="1800"/>
              </a:lnSpc>
            </a:pPr>
            <a:r>
              <a:rPr sz="1600" b="1" i="0" u="none" dirty="0">
                <a:solidFill>
                  <a:srgbClr val="E2E8F0"/>
                </a:solidFill>
                <a:latin typeface="Plus Jakarta Sans"/>
              </a:rPr>
              <a:t>Role Dashboards:</a:t>
            </a:r>
            <a:r>
              <a:rPr sz="1600" b="0" i="0" u="none" dirty="0">
                <a:solidFill>
                  <a:srgbClr val="E2E8F0"/>
                </a:solidFill>
                <a:latin typeface="Plus Jakarta Sans"/>
              </a:rPr>
              <a:t> Targeted tools for all users.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71500" y="487576"/>
            <a:ext cx="11601450" cy="415498"/>
          </a:xfrm>
          <a:prstGeom prst="rect">
            <a:avLst/>
          </a:prstGeom>
          <a:solidFill>
            <a:srgbClr val="E52328"/>
          </a:solidFill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lang="en-GB" sz="2700" b="1" i="0" u="none" dirty="0">
                <a:solidFill>
                  <a:srgbClr val="FBB040"/>
                </a:solidFill>
                <a:latin typeface="Space Grotesk"/>
              </a:rPr>
              <a:t> </a:t>
            </a:r>
            <a:r>
              <a:rPr sz="2700" b="1" i="0" u="none" dirty="0">
                <a:solidFill>
                  <a:srgbClr val="FBB040"/>
                </a:solidFill>
                <a:latin typeface="Space Grotesk"/>
              </a:rPr>
              <a:t>Project Overview &amp; Objectives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571500" y="914400"/>
            <a:ext cx="76200" cy="304800"/>
          </a:xfrm>
          <a:prstGeom prst="roundRect">
            <a:avLst>
              <a:gd name="adj" fmla="val 50000"/>
            </a:avLst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A0E2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1500" y="1990725"/>
            <a:ext cx="2019300" cy="219075"/>
          </a:xfrm>
          <a:prstGeom prst="rect">
            <a:avLst/>
          </a:prstGeom>
        </p:spPr>
      </p:pic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238875" y="1981200"/>
            <a:ext cx="5381625" cy="361950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571500" y="2305050"/>
            <a:ext cx="5650706" cy="2667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650" b="1" i="0" u="none">
                <a:solidFill>
                  <a:srgbClr val="FCD865"/>
                </a:solidFill>
                <a:latin typeface="Space Grotesk"/>
              </a:rPr>
              <a:t>Modular Architecture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71500" y="2667000"/>
            <a:ext cx="5381625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800"/>
              </a:lnSpc>
            </a:pPr>
            <a:r>
              <a:rPr sz="1600" b="0" i="0" u="none" dirty="0">
                <a:solidFill>
                  <a:srgbClr val="E2E8F0"/>
                </a:solidFill>
                <a:latin typeface="Plus Jakarta Sans"/>
              </a:rPr>
              <a:t>The system operates around a centralized database storing user profiles, event schedules, vendor listings, and stock counts.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3267075"/>
            <a:ext cx="5038725" cy="23012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912"/>
              </a:lnSpc>
            </a:pPr>
            <a:r>
              <a:rPr sz="1400" b="1" i="0" u="none" dirty="0">
                <a:solidFill>
                  <a:srgbClr val="FCD865"/>
                </a:solidFill>
                <a:latin typeface="Plus Jakarta Sans"/>
              </a:rPr>
              <a:t>Authentication Layer:</a:t>
            </a:r>
            <a:r>
              <a:rPr sz="1400" b="0" i="0" u="none" dirty="0">
                <a:solidFill>
                  <a:srgbClr val="E2E8F0"/>
                </a:solidFill>
                <a:latin typeface="Plus Jakarta Sans"/>
              </a:rPr>
              <a:t> Enforces Role-Based Access Control (RBAC).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3905250"/>
            <a:ext cx="5038725" cy="4857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912"/>
              </a:lnSpc>
            </a:pPr>
            <a:r>
              <a:rPr sz="1400" b="1" i="0" u="none" dirty="0">
                <a:solidFill>
                  <a:srgbClr val="FCD865"/>
                </a:solidFill>
                <a:latin typeface="Plus Jakarta Sans"/>
              </a:rPr>
              <a:t>6 Core Functional Modules:</a:t>
            </a:r>
            <a:r>
              <a:rPr sz="1400" b="0" i="0" u="none" dirty="0">
                <a:solidFill>
                  <a:srgbClr val="E2E8F0"/>
                </a:solidFill>
                <a:latin typeface="Plus Jakarta Sans"/>
              </a:rPr>
              <a:t> Communicate directly through REST APIs.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" y="4543425"/>
            <a:ext cx="5038725" cy="4857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912"/>
              </a:lnSpc>
            </a:pPr>
            <a:r>
              <a:rPr sz="1400" b="1" i="0" u="none" dirty="0">
                <a:solidFill>
                  <a:srgbClr val="FCD865"/>
                </a:solidFill>
                <a:latin typeface="Plus Jakarta Sans"/>
              </a:rPr>
              <a:t>Centralized Database:</a:t>
            </a:r>
            <a:r>
              <a:rPr sz="1400" b="0" i="0" u="none" dirty="0">
                <a:solidFill>
                  <a:srgbClr val="E2E8F0"/>
                </a:solidFill>
                <a:latin typeface="Plus Jakarta Sans"/>
              </a:rPr>
              <a:t> Ensures data synchronization across all user sessions.</a:t>
            </a:r>
          </a:p>
        </p:txBody>
      </p:sp>
      <p:pic>
        <p:nvPicPr>
          <p:cNvPr id="11" name="Picture 10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71500" y="3290887"/>
            <a:ext cx="219075" cy="200025"/>
          </a:xfrm>
          <a:prstGeom prst="rect">
            <a:avLst/>
          </a:prstGeom>
        </p:spPr>
      </p:pic>
      <p:pic>
        <p:nvPicPr>
          <p:cNvPr id="12" name="Picture 11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71500" y="3929062"/>
            <a:ext cx="219075" cy="200025"/>
          </a:xfrm>
          <a:prstGeom prst="rect">
            <a:avLst/>
          </a:prstGeom>
        </p:spPr>
      </p:pic>
      <p:pic>
        <p:nvPicPr>
          <p:cNvPr id="13" name="Picture 12" descr="imag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71500" y="4567237"/>
            <a:ext cx="171450" cy="200025"/>
          </a:xfrm>
          <a:prstGeom prst="rect">
            <a:avLst/>
          </a:prstGeom>
        </p:spPr>
      </p:pic>
      <p:sp>
        <p:nvSpPr>
          <p:cNvPr id="14" name="TextBox 13"/>
          <p:cNvSpPr txBox="1"/>
          <p:nvPr/>
        </p:nvSpPr>
        <p:spPr>
          <a:xfrm>
            <a:off x="571500" y="487576"/>
            <a:ext cx="11601450" cy="415498"/>
          </a:xfrm>
          <a:prstGeom prst="rect">
            <a:avLst/>
          </a:prstGeom>
          <a:solidFill>
            <a:srgbClr val="E52328"/>
          </a:solidFill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lang="en-GB" sz="2700" b="1" i="0" u="none" dirty="0">
                <a:solidFill>
                  <a:srgbClr val="FBB040"/>
                </a:solidFill>
                <a:latin typeface="Space Grotesk"/>
              </a:rPr>
              <a:t> </a:t>
            </a:r>
            <a:r>
              <a:rPr sz="2700" b="1" i="0" u="none" dirty="0">
                <a:solidFill>
                  <a:srgbClr val="FBB040"/>
                </a:solidFill>
                <a:latin typeface="Space Grotesk"/>
              </a:rPr>
              <a:t>System Architecture Overview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71500" y="914400"/>
            <a:ext cx="76200" cy="304800"/>
          </a:xfrm>
          <a:prstGeom prst="roundRect">
            <a:avLst>
              <a:gd name="adj" fmla="val 50000"/>
            </a:avLst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7" name="Picture 16">
            <a:extLst>
              <a:ext uri="{FF2B5EF4-FFF2-40B4-BE49-F238E27FC236}">
                <a16:creationId xmlns:a16="http://schemas.microsoft.com/office/drawing/2014/main" id="{9AD7C2A6-F002-4774-A090-25D43035823E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469856" y="1381125"/>
            <a:ext cx="4962525" cy="4543425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A0E2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914400" y="2362200"/>
            <a:ext cx="10706100" cy="4857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912"/>
              </a:lnSpc>
            </a:pPr>
            <a:r>
              <a:rPr b="1" i="0" u="none" dirty="0">
                <a:solidFill>
                  <a:srgbClr val="FCD865"/>
                </a:solidFill>
                <a:latin typeface="Plus Jakarta Sans"/>
              </a:rPr>
              <a:t>FR1: Account &amp; Authentication Management:</a:t>
            </a:r>
            <a:r>
              <a:rPr b="0" i="0" u="none" dirty="0">
                <a:solidFill>
                  <a:srgbClr val="E2E8F0"/>
                </a:solidFill>
                <a:latin typeface="Plus Jakarta Sans"/>
              </a:rPr>
              <a:t> User registration, role enforcement (Customer, Vendor, Manager, Admin), and secure login with OTP password reset.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3000375"/>
            <a:ext cx="10706100" cy="4857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912"/>
              </a:lnSpc>
            </a:pPr>
            <a:r>
              <a:rPr b="1" i="0" u="none" dirty="0">
                <a:solidFill>
                  <a:srgbClr val="FCD865"/>
                </a:solidFill>
                <a:latin typeface="Plus Jakarta Sans"/>
              </a:rPr>
              <a:t>FR2: Event Creation &amp; Lifecycle Management:</a:t>
            </a:r>
            <a:r>
              <a:rPr b="0" i="0" u="none" dirty="0">
                <a:solidFill>
                  <a:srgbClr val="E2E8F0"/>
                </a:solidFill>
                <a:latin typeface="Plus Jakarta Sans"/>
              </a:rPr>
              <a:t> Draft, view, update, and track event progress states (Draft, Pending Approval, Approved, Completed).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3638550"/>
            <a:ext cx="10706100" cy="487313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912"/>
              </a:lnSpc>
            </a:pPr>
            <a:r>
              <a:rPr b="1" i="0" u="none" dirty="0">
                <a:solidFill>
                  <a:srgbClr val="FCD865"/>
                </a:solidFill>
                <a:latin typeface="Plus Jakarta Sans"/>
              </a:rPr>
              <a:t>FR3: Venue &amp; Vendor Booking:</a:t>
            </a:r>
            <a:r>
              <a:rPr b="0" i="0" u="none" dirty="0">
                <a:solidFill>
                  <a:srgbClr val="E2E8F0"/>
                </a:solidFill>
                <a:latin typeface="Plus Jakarta Sans"/>
              </a:rPr>
              <a:t> Real-time filtering, calendar slot locks to prevent double-booking, and payment status logging.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4122638"/>
            <a:ext cx="10706100" cy="487313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912"/>
              </a:lnSpc>
            </a:pPr>
            <a:r>
              <a:rPr b="1" i="0" u="none" dirty="0">
                <a:solidFill>
                  <a:srgbClr val="FCD865"/>
                </a:solidFill>
                <a:latin typeface="Plus Jakarta Sans"/>
              </a:rPr>
              <a:t>FR4: Schedule &amp; Activity Management:</a:t>
            </a:r>
            <a:r>
              <a:rPr b="0" i="0" u="none" dirty="0">
                <a:solidFill>
                  <a:srgbClr val="E2E8F0"/>
                </a:solidFill>
                <a:latin typeface="Plus Jakarta Sans"/>
              </a:rPr>
              <a:t> Visual interactive timelines, operational staff task assignments, and automated deadline alerts</a:t>
            </a:r>
            <a:r>
              <a:rPr sz="1400" b="0" i="0" u="none" dirty="0">
                <a:solidFill>
                  <a:srgbClr val="E2E8F0"/>
                </a:solidFill>
                <a:latin typeface="Plus Jakarta Sans"/>
              </a:rPr>
              <a:t>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4614951"/>
            <a:ext cx="10706100" cy="487313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912"/>
              </a:lnSpc>
            </a:pPr>
            <a:r>
              <a:rPr b="1" i="0" u="none" dirty="0">
                <a:solidFill>
                  <a:srgbClr val="FCD865"/>
                </a:solidFill>
                <a:latin typeface="Plus Jakarta Sans"/>
              </a:rPr>
              <a:t>FR5: Inventory Tracking:</a:t>
            </a:r>
            <a:r>
              <a:rPr b="0" i="0" u="none" dirty="0">
                <a:solidFill>
                  <a:srgbClr val="E2E8F0"/>
                </a:solidFill>
                <a:latin typeface="Plus Jakarta Sans"/>
              </a:rPr>
              <a:t> Real-time stock level allocation (chairs, tables, AV gear), post-event return logs, and safety stock alerts</a:t>
            </a:r>
            <a:r>
              <a:rPr sz="1400" b="0" i="0" u="none" dirty="0">
                <a:solidFill>
                  <a:srgbClr val="E2E8F0"/>
                </a:solidFill>
                <a:latin typeface="Plus Jakarta Sans"/>
              </a:rPr>
              <a:t>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5201126"/>
            <a:ext cx="10706100" cy="2436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912"/>
              </a:lnSpc>
            </a:pPr>
            <a:r>
              <a:rPr b="1" i="0" u="none" dirty="0">
                <a:solidFill>
                  <a:srgbClr val="FCD865"/>
                </a:solidFill>
                <a:latin typeface="Plus Jakarta Sans"/>
              </a:rPr>
              <a:t>FR6: Customer Management:</a:t>
            </a:r>
            <a:r>
              <a:rPr b="0" i="0" u="none" dirty="0">
                <a:solidFill>
                  <a:srgbClr val="E2E8F0"/>
                </a:solidFill>
                <a:latin typeface="Plus Jakarta Sans"/>
              </a:rPr>
              <a:t> Detailed customer profiles, booking history archives, and interaction logging.</a:t>
            </a:r>
          </a:p>
        </p:txBody>
      </p:sp>
      <p:pic>
        <p:nvPicPr>
          <p:cNvPr id="9" name="Picture 8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1500" y="2386012"/>
            <a:ext cx="238125" cy="200025"/>
          </a:xfrm>
          <a:prstGeom prst="rect">
            <a:avLst/>
          </a:prstGeom>
        </p:spPr>
      </p:pic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71500" y="3024187"/>
            <a:ext cx="171450" cy="200025"/>
          </a:xfrm>
          <a:prstGeom prst="rect">
            <a:avLst/>
          </a:prstGeom>
        </p:spPr>
      </p:pic>
      <p:pic>
        <p:nvPicPr>
          <p:cNvPr id="11" name="Picture 10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71500" y="3662362"/>
            <a:ext cx="219075" cy="200025"/>
          </a:xfrm>
          <a:prstGeom prst="rect">
            <a:avLst/>
          </a:prstGeom>
        </p:spPr>
      </p:pic>
      <p:pic>
        <p:nvPicPr>
          <p:cNvPr id="12" name="Picture 11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71500" y="4190995"/>
            <a:ext cx="190500" cy="200025"/>
          </a:xfrm>
          <a:prstGeom prst="rect">
            <a:avLst/>
          </a:prstGeom>
        </p:spPr>
      </p:pic>
      <p:pic>
        <p:nvPicPr>
          <p:cNvPr id="13" name="Picture 12" descr="imag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71500" y="4658583"/>
            <a:ext cx="219075" cy="200025"/>
          </a:xfrm>
          <a:prstGeom prst="rect">
            <a:avLst/>
          </a:prstGeom>
        </p:spPr>
      </p:pic>
      <p:pic>
        <p:nvPicPr>
          <p:cNvPr id="14" name="Picture 13" descr="image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571500" y="5224458"/>
            <a:ext cx="238125" cy="200025"/>
          </a:xfrm>
          <a:prstGeom prst="rect">
            <a:avLst/>
          </a:prstGeom>
        </p:spPr>
      </p:pic>
      <p:sp>
        <p:nvSpPr>
          <p:cNvPr id="15" name="TextBox 14"/>
          <p:cNvSpPr txBox="1"/>
          <p:nvPr/>
        </p:nvSpPr>
        <p:spPr>
          <a:xfrm>
            <a:off x="571500" y="487576"/>
            <a:ext cx="11601450" cy="415498"/>
          </a:xfrm>
          <a:prstGeom prst="rect">
            <a:avLst/>
          </a:prstGeom>
          <a:solidFill>
            <a:srgbClr val="E52328"/>
          </a:solidFill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lang="en-GB" sz="2700" b="1" i="0" u="none" dirty="0">
                <a:solidFill>
                  <a:srgbClr val="FBB040"/>
                </a:solidFill>
                <a:latin typeface="Space Grotesk"/>
              </a:rPr>
              <a:t> </a:t>
            </a:r>
            <a:r>
              <a:rPr sz="2700" b="1" i="0" u="none" dirty="0">
                <a:solidFill>
                  <a:srgbClr val="FBB040"/>
                </a:solidFill>
                <a:latin typeface="Space Grotesk"/>
              </a:rPr>
              <a:t>Functional Requirements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71500" y="914400"/>
            <a:ext cx="76200" cy="304800"/>
          </a:xfrm>
          <a:prstGeom prst="roundRect">
            <a:avLst>
              <a:gd name="adj" fmla="val 50000"/>
            </a:avLst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0294203E-E06E-465A-97B1-F9E86EF5BF1C}"/>
              </a:ext>
            </a:extLst>
          </p:cNvPr>
          <p:cNvSpPr txBox="1"/>
          <p:nvPr/>
        </p:nvSpPr>
        <p:spPr>
          <a:xfrm>
            <a:off x="571500" y="1273239"/>
            <a:ext cx="6093618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>
              <a:buNone/>
            </a:pPr>
            <a:r>
              <a:rPr lang="en-US" sz="2000" b="1" dirty="0">
                <a:solidFill>
                  <a:schemeClr val="bg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the System Must Do</a:t>
            </a:r>
            <a:endParaRPr lang="en-US" sz="2000" dirty="0">
              <a:solidFill>
                <a:schemeClr val="bg1"/>
              </a:solidFill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A0E2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1500" y="2476499"/>
            <a:ext cx="2619375" cy="2809875"/>
          </a:xfrm>
          <a:prstGeom prst="rect">
            <a:avLst/>
          </a:prstGeom>
        </p:spPr>
      </p:pic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381375" y="2476499"/>
            <a:ext cx="2619375" cy="2809875"/>
          </a:xfrm>
          <a:prstGeom prst="rect">
            <a:avLst/>
          </a:prstGeom>
        </p:spPr>
      </p:pic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91250" y="2476499"/>
            <a:ext cx="2619375" cy="2809875"/>
          </a:xfrm>
          <a:prstGeom prst="rect">
            <a:avLst/>
          </a:prstGeom>
        </p:spPr>
      </p:pic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001125" y="2476499"/>
            <a:ext cx="2619375" cy="2809875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809625" y="3438525"/>
            <a:ext cx="2250281" cy="30777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000" b="1" i="0" u="none" dirty="0">
                <a:solidFill>
                  <a:srgbClr val="FCD865"/>
                </a:solidFill>
                <a:latin typeface="Space Grotesk"/>
              </a:rPr>
              <a:t>Performance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09625" y="3800475"/>
            <a:ext cx="2143125" cy="914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800"/>
              </a:lnSpc>
            </a:pPr>
            <a:r>
              <a:rPr sz="1600" b="0" i="0" u="none" dirty="0">
                <a:solidFill>
                  <a:srgbClr val="E2E8F0"/>
                </a:solidFill>
                <a:latin typeface="Plus Jakarta Sans"/>
              </a:rPr>
              <a:t>Supports up to 500 concurrent active users with page response times under 2.0 seconds.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619500" y="3438525"/>
            <a:ext cx="2250281" cy="30777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000" b="1" i="0" u="none" dirty="0">
                <a:solidFill>
                  <a:srgbClr val="FCD865"/>
                </a:solidFill>
                <a:latin typeface="Space Grotesk"/>
              </a:rPr>
              <a:t>Security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619500" y="3800475"/>
            <a:ext cx="2143125" cy="914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800"/>
              </a:lnSpc>
            </a:pPr>
            <a:r>
              <a:rPr sz="1600" b="0" i="0" u="none" dirty="0">
                <a:solidFill>
                  <a:srgbClr val="E2E8F0"/>
                </a:solidFill>
                <a:latin typeface="Plus Jakarta Sans"/>
              </a:rPr>
              <a:t>HTTPS with SSL/TLS encryption. Passwords hashed using </a:t>
            </a:r>
            <a:r>
              <a:rPr sz="1600" b="0" i="0" u="none" dirty="0" err="1">
                <a:solidFill>
                  <a:srgbClr val="E2E8F0"/>
                </a:solidFill>
                <a:latin typeface="Plus Jakarta Sans"/>
              </a:rPr>
              <a:t>bcrypt</a:t>
            </a:r>
            <a:r>
              <a:rPr sz="1600" b="0" i="0" u="none" dirty="0">
                <a:solidFill>
                  <a:srgbClr val="E2E8F0"/>
                </a:solidFill>
                <a:latin typeface="Plus Jakarta Sans"/>
              </a:rPr>
              <a:t> prior to database storage.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29375" y="3438525"/>
            <a:ext cx="2250281" cy="30777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000" b="1" i="0" u="none" dirty="0">
                <a:solidFill>
                  <a:srgbClr val="FCD865"/>
                </a:solidFill>
                <a:latin typeface="Space Grotesk"/>
              </a:rPr>
              <a:t>Usability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29375" y="3800475"/>
            <a:ext cx="2143125" cy="92333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800"/>
              </a:lnSpc>
            </a:pPr>
            <a:r>
              <a:rPr sz="1600" b="0" i="0" u="none" dirty="0">
                <a:solidFill>
                  <a:srgbClr val="E2E8F0"/>
                </a:solidFill>
                <a:latin typeface="Plus Jakarta Sans"/>
              </a:rPr>
              <a:t>Fully responsive Web UI optimized across desktop, tablet, and mobile browsers.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239250" y="3438525"/>
            <a:ext cx="2250281" cy="276999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b="1" i="0" u="none" dirty="0">
                <a:solidFill>
                  <a:srgbClr val="FCD865"/>
                </a:solidFill>
                <a:latin typeface="Space Grotesk"/>
              </a:rPr>
              <a:t>Uptime &amp; Scale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239250" y="3800475"/>
            <a:ext cx="2143125" cy="914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800"/>
              </a:lnSpc>
            </a:pPr>
            <a:r>
              <a:rPr sz="1600" b="0" i="0" u="none" dirty="0">
                <a:solidFill>
                  <a:srgbClr val="E2E8F0"/>
                </a:solidFill>
                <a:latin typeface="Plus Jakarta Sans"/>
              </a:rPr>
              <a:t>99.5% uptime with daily automated database backups and modular REST API microservices.</a:t>
            </a:r>
          </a:p>
        </p:txBody>
      </p:sp>
      <p:pic>
        <p:nvPicPr>
          <p:cNvPr id="15" name="Picture 14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09625" y="2924175"/>
            <a:ext cx="304800" cy="342900"/>
          </a:xfrm>
          <a:prstGeom prst="rect">
            <a:avLst/>
          </a:prstGeom>
        </p:spPr>
      </p:pic>
      <p:pic>
        <p:nvPicPr>
          <p:cNvPr id="16" name="Picture 15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619500" y="2924175"/>
            <a:ext cx="304800" cy="342900"/>
          </a:xfrm>
          <a:prstGeom prst="rect">
            <a:avLst/>
          </a:prstGeom>
        </p:spPr>
      </p:pic>
      <p:pic>
        <p:nvPicPr>
          <p:cNvPr id="17" name="Picture 16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429375" y="2924175"/>
            <a:ext cx="390525" cy="342900"/>
          </a:xfrm>
          <a:prstGeom prst="rect">
            <a:avLst/>
          </a:prstGeom>
        </p:spPr>
      </p:pic>
      <p:pic>
        <p:nvPicPr>
          <p:cNvPr id="18" name="Picture 17" descr="imag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9239250" y="2924175"/>
            <a:ext cx="342900" cy="342900"/>
          </a:xfrm>
          <a:prstGeom prst="rect">
            <a:avLst/>
          </a:prstGeom>
        </p:spPr>
      </p:pic>
      <p:sp>
        <p:nvSpPr>
          <p:cNvPr id="19" name="TextBox 18"/>
          <p:cNvSpPr txBox="1"/>
          <p:nvPr/>
        </p:nvSpPr>
        <p:spPr>
          <a:xfrm>
            <a:off x="571500" y="487576"/>
            <a:ext cx="11601450" cy="415498"/>
          </a:xfrm>
          <a:prstGeom prst="rect">
            <a:avLst/>
          </a:prstGeom>
          <a:solidFill>
            <a:srgbClr val="E52328"/>
          </a:solidFill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lang="en-GB" sz="2700" b="1" i="0" u="none" dirty="0">
                <a:solidFill>
                  <a:srgbClr val="FBB040"/>
                </a:solidFill>
                <a:latin typeface="Space Grotesk"/>
              </a:rPr>
              <a:t> </a:t>
            </a:r>
            <a:r>
              <a:rPr sz="2700" b="1" i="0" u="none" dirty="0">
                <a:solidFill>
                  <a:srgbClr val="FBB040"/>
                </a:solidFill>
                <a:latin typeface="Space Grotesk"/>
              </a:rPr>
              <a:t>Non-Functional Requirements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71500" y="914400"/>
            <a:ext cx="76200" cy="304800"/>
          </a:xfrm>
          <a:prstGeom prst="roundRect">
            <a:avLst>
              <a:gd name="adj" fmla="val 50000"/>
            </a:avLst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C96F8D49-FB5D-40EE-BBD2-78CDA97FC7CA}"/>
              </a:ext>
            </a:extLst>
          </p:cNvPr>
          <p:cNvSpPr txBox="1"/>
          <p:nvPr/>
        </p:nvSpPr>
        <p:spPr>
          <a:xfrm>
            <a:off x="531019" y="1347057"/>
            <a:ext cx="6093618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Qualities Behind the Features</a:t>
            </a:r>
            <a:endParaRPr lang="en-US" sz="2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A0E2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graphicFrame>
        <p:nvGraphicFramePr>
          <p:cNvPr id="3" name="Table 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603388393"/>
              </p:ext>
            </p:extLst>
          </p:nvPr>
        </p:nvGraphicFramePr>
        <p:xfrm>
          <a:off x="571500" y="2002495"/>
          <a:ext cx="11029948" cy="358723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59633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77408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659534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474005">
                <a:tc>
                  <a:txBody>
                    <a:bodyPr/>
                    <a:lstStyle/>
                    <a:p>
                      <a:pPr algn="l"/>
                      <a:r>
                        <a:rPr sz="1800" b="1" i="0" u="none" dirty="0">
                          <a:solidFill>
                            <a:srgbClr val="FBB040"/>
                          </a:solidFill>
                          <a:latin typeface="Space Grotesk"/>
                        </a:rPr>
                        <a:t>Stakeholder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800" b="1" i="0" u="none" dirty="0">
                          <a:solidFill>
                            <a:srgbClr val="FBB040"/>
                          </a:solidFill>
                          <a:latin typeface="Space Grotesk"/>
                        </a:rPr>
                        <a:t>Primary Responsibilities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800" b="1" i="0" u="none" dirty="0">
                          <a:solidFill>
                            <a:srgbClr val="FBB040"/>
                          </a:solidFill>
                          <a:latin typeface="Space Grotesk"/>
                        </a:rPr>
                        <a:t>System Value Derived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79651">
                <a:tc>
                  <a:txBody>
                    <a:bodyPr/>
                    <a:lstStyle/>
                    <a:p>
                      <a:pPr algn="l"/>
                      <a:r>
                        <a:rPr sz="1600" b="1" i="0" u="none" dirty="0">
                          <a:solidFill>
                            <a:srgbClr val="E2E8F0"/>
                          </a:solidFill>
                          <a:latin typeface="Plus Jakarta Sans"/>
                        </a:rPr>
                        <a:t>Administrator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1E0E3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600" b="0" i="0" u="none" dirty="0">
                          <a:solidFill>
                            <a:srgbClr val="E2E8F0"/>
                          </a:solidFill>
                          <a:latin typeface="Plus Jakarta Sans"/>
                        </a:rPr>
                        <a:t>Manages platform access, role permissions, system audit logs, and reports.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1E0E3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600" b="0" i="0" u="none" dirty="0">
                          <a:solidFill>
                            <a:srgbClr val="E2E8F0"/>
                          </a:solidFill>
                          <a:latin typeface="Plus Jakarta Sans"/>
                        </a:rPr>
                        <a:t>Full governance and maintenance capability.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1E0E3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79651">
                <a:tc>
                  <a:txBody>
                    <a:bodyPr/>
                    <a:lstStyle/>
                    <a:p>
                      <a:pPr algn="l"/>
                      <a:r>
                        <a:rPr sz="1600" b="1" i="0" u="none" dirty="0">
                          <a:solidFill>
                            <a:srgbClr val="E2E8F0"/>
                          </a:solidFill>
                          <a:latin typeface="Plus Jakarta Sans"/>
                        </a:rPr>
                        <a:t>Customer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1E0E3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600" b="0" i="0" u="none" dirty="0">
                          <a:solidFill>
                            <a:srgbClr val="E2E8F0"/>
                          </a:solidFill>
                          <a:latin typeface="Plus Jakarta Sans"/>
                        </a:rPr>
                        <a:t>Creates event requests, selects venue/vendors, tracks timelines and payments.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1E0E3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600" b="0" i="0" u="none" dirty="0">
                          <a:solidFill>
                            <a:srgbClr val="E2E8F0"/>
                          </a:solidFill>
                          <a:latin typeface="Plus Jakarta Sans"/>
                        </a:rPr>
                        <a:t>Single dashboard eliminates scattered channels.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1E0E3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79651">
                <a:tc>
                  <a:txBody>
                    <a:bodyPr/>
                    <a:lstStyle/>
                    <a:p>
                      <a:pPr algn="l"/>
                      <a:r>
                        <a:rPr sz="1600" b="1" i="0" u="none" dirty="0">
                          <a:solidFill>
                            <a:srgbClr val="E2E8F0"/>
                          </a:solidFill>
                          <a:latin typeface="Plus Jakarta Sans"/>
                        </a:rPr>
                        <a:t>Event Manager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1E0E3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600" b="0" i="0" u="none" dirty="0">
                          <a:solidFill>
                            <a:srgbClr val="E2E8F0"/>
                          </a:solidFill>
                          <a:latin typeface="Plus Jakarta Sans"/>
                        </a:rPr>
                        <a:t>Verifies plans, creates schedules, approves bookings, and assigns staff.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1E0E3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600" b="0" i="0" u="none" dirty="0">
                          <a:solidFill>
                            <a:srgbClr val="E2E8F0"/>
                          </a:solidFill>
                          <a:latin typeface="Plus Jakarta Sans"/>
                        </a:rPr>
                        <a:t>Automated scheduling and workflow control.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1E0E3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79651">
                <a:tc>
                  <a:txBody>
                    <a:bodyPr/>
                    <a:lstStyle/>
                    <a:p>
                      <a:pPr algn="l"/>
                      <a:r>
                        <a:rPr sz="1600" b="1" i="0" u="none" dirty="0">
                          <a:solidFill>
                            <a:srgbClr val="E2E8F0"/>
                          </a:solidFill>
                          <a:latin typeface="Plus Jakarta Sans"/>
                        </a:rPr>
                        <a:t>Vendor / Partner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1E0E3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600" b="0" i="0" u="none" dirty="0">
                          <a:solidFill>
                            <a:srgbClr val="E2E8F0"/>
                          </a:solidFill>
                          <a:latin typeface="Plus Jakarta Sans"/>
                        </a:rPr>
                        <a:t>Lists services, manages schedule availability, accepts/rejects bookings.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1E0E3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600" b="0" i="0" u="none" dirty="0">
                          <a:solidFill>
                            <a:srgbClr val="E2E8F0"/>
                          </a:solidFill>
                          <a:latin typeface="Plus Jakarta Sans"/>
                        </a:rPr>
                        <a:t>Direct customer reach &amp; calendar locks.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1E0E3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79651">
                <a:tc>
                  <a:txBody>
                    <a:bodyPr/>
                    <a:lstStyle/>
                    <a:p>
                      <a:pPr algn="l"/>
                      <a:r>
                        <a:rPr sz="1600" b="1" i="0" u="none" dirty="0">
                          <a:solidFill>
                            <a:srgbClr val="E2E8F0"/>
                          </a:solidFill>
                          <a:latin typeface="Plus Jakarta Sans"/>
                        </a:rPr>
                        <a:t>Inventory Staff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1E0E3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600" b="0" i="0" u="none" dirty="0">
                          <a:solidFill>
                            <a:srgbClr val="E2E8F0"/>
                          </a:solidFill>
                          <a:latin typeface="Plus Jakarta Sans"/>
                        </a:rPr>
                        <a:t>Tracks physical asset allocation, stock levels, and post-event returns.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1E0E3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600" b="0" i="0" u="none" dirty="0">
                          <a:solidFill>
                            <a:srgbClr val="E2E8F0"/>
                          </a:solidFill>
                          <a:latin typeface="Plus Jakarta Sans"/>
                        </a:rPr>
                        <a:t>Prevents gear shortages and missing stock.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1E0E3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79656">
                <a:tc>
                  <a:txBody>
                    <a:bodyPr/>
                    <a:lstStyle/>
                    <a:p>
                      <a:pPr algn="l"/>
                      <a:r>
                        <a:rPr sz="1600" b="1" i="0" u="none" dirty="0">
                          <a:solidFill>
                            <a:srgbClr val="E2E8F0"/>
                          </a:solidFill>
                          <a:latin typeface="Plus Jakarta Sans"/>
                        </a:rPr>
                        <a:t>Guest / Attendee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1E0E3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600" b="0" i="0" u="none" dirty="0">
                          <a:solidFill>
                            <a:srgbClr val="E2E8F0"/>
                          </a:solidFill>
                          <a:latin typeface="Plus Jakarta Sans"/>
                        </a:rPr>
                        <a:t>Views public event details, itineraries, and registers attendance.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1E0E3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600" b="0" i="0" u="none" dirty="0">
                          <a:solidFill>
                            <a:srgbClr val="E2E8F0"/>
                          </a:solidFill>
                          <a:latin typeface="Plus Jakarta Sans"/>
                        </a:rPr>
                        <a:t>Convenient access to schedule updates.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1E0E3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sp>
        <p:nvSpPr>
          <p:cNvPr id="4" name="Rectangle 3"/>
          <p:cNvSpPr/>
          <p:nvPr/>
        </p:nvSpPr>
        <p:spPr>
          <a:xfrm>
            <a:off x="571500" y="2526438"/>
            <a:ext cx="1596330" cy="9525"/>
          </a:xfrm>
          <a:prstGeom prst="rect">
            <a:avLst/>
          </a:prstGeom>
          <a:solidFill>
            <a:srgbClr val="FA82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2167830" y="2526438"/>
            <a:ext cx="5774084" cy="9525"/>
          </a:xfrm>
          <a:prstGeom prst="rect">
            <a:avLst/>
          </a:prstGeom>
          <a:solidFill>
            <a:srgbClr val="FA82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7941914" y="2526438"/>
            <a:ext cx="3659534" cy="9525"/>
          </a:xfrm>
          <a:prstGeom prst="rect">
            <a:avLst/>
          </a:prstGeom>
          <a:solidFill>
            <a:srgbClr val="FA82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581025" y="3078956"/>
            <a:ext cx="1596330" cy="9525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2177355" y="3078956"/>
            <a:ext cx="5774084" cy="9525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7951440" y="3078956"/>
            <a:ext cx="3659534" cy="9525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581025" y="3555206"/>
            <a:ext cx="1596330" cy="9525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2177355" y="3555206"/>
            <a:ext cx="5774084" cy="9525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7951440" y="3555206"/>
            <a:ext cx="3659534" cy="9525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ectangle 12"/>
          <p:cNvSpPr/>
          <p:nvPr/>
        </p:nvSpPr>
        <p:spPr>
          <a:xfrm>
            <a:off x="590552" y="4079149"/>
            <a:ext cx="1596330" cy="9525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ectangle 13"/>
          <p:cNvSpPr/>
          <p:nvPr/>
        </p:nvSpPr>
        <p:spPr>
          <a:xfrm>
            <a:off x="2177355" y="4079149"/>
            <a:ext cx="5774084" cy="9525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ectangle 14"/>
          <p:cNvSpPr/>
          <p:nvPr/>
        </p:nvSpPr>
        <p:spPr>
          <a:xfrm>
            <a:off x="7951440" y="4079149"/>
            <a:ext cx="3659534" cy="9525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ectangle 15"/>
          <p:cNvSpPr/>
          <p:nvPr/>
        </p:nvSpPr>
        <p:spPr>
          <a:xfrm>
            <a:off x="571500" y="4622142"/>
            <a:ext cx="1596330" cy="9525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Rectangle 16"/>
          <p:cNvSpPr/>
          <p:nvPr/>
        </p:nvSpPr>
        <p:spPr>
          <a:xfrm>
            <a:off x="2167830" y="4622142"/>
            <a:ext cx="5774084" cy="9525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Rectangle 17"/>
          <p:cNvSpPr/>
          <p:nvPr/>
        </p:nvSpPr>
        <p:spPr>
          <a:xfrm>
            <a:off x="7951440" y="4622142"/>
            <a:ext cx="3659534" cy="9525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Rectangle 18"/>
          <p:cNvSpPr/>
          <p:nvPr/>
        </p:nvSpPr>
        <p:spPr>
          <a:xfrm>
            <a:off x="590552" y="5107917"/>
            <a:ext cx="1596330" cy="9525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Rectangle 19"/>
          <p:cNvSpPr/>
          <p:nvPr/>
        </p:nvSpPr>
        <p:spPr>
          <a:xfrm>
            <a:off x="2177355" y="5107917"/>
            <a:ext cx="5774084" cy="9525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Rectangle 20"/>
          <p:cNvSpPr/>
          <p:nvPr/>
        </p:nvSpPr>
        <p:spPr>
          <a:xfrm>
            <a:off x="7951440" y="5107917"/>
            <a:ext cx="3659534" cy="9525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571500" y="487576"/>
            <a:ext cx="11601450" cy="415498"/>
          </a:xfrm>
          <a:prstGeom prst="rect">
            <a:avLst/>
          </a:prstGeom>
          <a:solidFill>
            <a:srgbClr val="E52328"/>
          </a:solidFill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lang="en-GB" sz="2700" b="1" i="0" u="none" dirty="0">
                <a:solidFill>
                  <a:srgbClr val="FBB040"/>
                </a:solidFill>
                <a:latin typeface="Space Grotesk"/>
              </a:rPr>
              <a:t> </a:t>
            </a:r>
            <a:r>
              <a:rPr sz="2700" b="1" i="0" u="none" dirty="0">
                <a:solidFill>
                  <a:srgbClr val="FBB040"/>
                </a:solidFill>
                <a:latin typeface="Space Grotesk"/>
              </a:rPr>
              <a:t>Major Stakeholders &amp; Users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571500" y="914400"/>
            <a:ext cx="76200" cy="304800"/>
          </a:xfrm>
          <a:prstGeom prst="roundRect">
            <a:avLst>
              <a:gd name="adj" fmla="val 50000"/>
            </a:avLst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A0E2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1500" y="2433637"/>
            <a:ext cx="5381625" cy="3405188"/>
          </a:xfrm>
          <a:prstGeom prst="rect">
            <a:avLst/>
          </a:prstGeom>
        </p:spPr>
      </p:pic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38875" y="2433637"/>
            <a:ext cx="5381625" cy="3405188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847725" y="3024187"/>
            <a:ext cx="5070633" cy="3693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400" b="1" i="0" u="none" dirty="0">
                <a:solidFill>
                  <a:srgbClr val="FCD865"/>
                </a:solidFill>
                <a:latin typeface="Space Grotesk"/>
              </a:rPr>
              <a:t>1. Registration &amp; Authentication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47725" y="3433762"/>
            <a:ext cx="4829175" cy="21480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575"/>
              </a:lnSpc>
            </a:pPr>
            <a:r>
              <a:rPr b="0" i="0" u="none" dirty="0">
                <a:solidFill>
                  <a:srgbClr val="FA8228"/>
                </a:solidFill>
                <a:latin typeface="Plus Jakarta Sans SemiBold"/>
              </a:rPr>
              <a:t>Target: All System Users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524625" y="2971799"/>
            <a:ext cx="5070633" cy="3693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400" b="1" i="0" u="none" dirty="0">
                <a:solidFill>
                  <a:srgbClr val="FCD865"/>
                </a:solidFill>
                <a:latin typeface="Space Grotesk"/>
              </a:rPr>
              <a:t>2. Event Creation &amp; Management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515100" y="3433762"/>
            <a:ext cx="4829175" cy="21480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575"/>
              </a:lnSpc>
            </a:pPr>
            <a:r>
              <a:rPr b="0" i="0" u="none" dirty="0">
                <a:solidFill>
                  <a:srgbClr val="FA8228"/>
                </a:solidFill>
                <a:latin typeface="Plus Jakarta Sans SemiBold"/>
              </a:rPr>
              <a:t>Target: Customer, Event Manager</a:t>
            </a:r>
          </a:p>
        </p:txBody>
      </p:sp>
      <p:pic>
        <p:nvPicPr>
          <p:cNvPr id="11" name="Picture 10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47726" y="2652713"/>
            <a:ext cx="209550" cy="247650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981075" y="3729037"/>
            <a:ext cx="5715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0" i="0" u="none" dirty="0">
                <a:solidFill>
                  <a:srgbClr val="E2E8F0"/>
                </a:solidFill>
                <a:latin typeface="Plus Jakarta Sans"/>
              </a:rPr>
              <a:t>▪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38225" y="3729037"/>
            <a:ext cx="4638675" cy="240835"/>
          </a:xfrm>
          <a:prstGeom prst="rect">
            <a:avLst/>
          </a:prstGeom>
          <a:noFill/>
        </p:spPr>
        <p:txBody>
          <a:bodyPr wrap="square" lIns="57150" tIns="0" rIns="0" bIns="0" anchor="t">
            <a:spAutoFit/>
          </a:bodyPr>
          <a:lstStyle/>
          <a:p>
            <a:pPr algn="l">
              <a:lnSpc>
                <a:spcPts val="1800"/>
              </a:lnSpc>
            </a:pPr>
            <a:r>
              <a:rPr sz="2000" b="0" i="0" u="none" dirty="0">
                <a:solidFill>
                  <a:srgbClr val="E2E8F0"/>
                </a:solidFill>
                <a:latin typeface="Plus Jakarta Sans"/>
              </a:rPr>
              <a:t>User re</a:t>
            </a:r>
            <a:r>
              <a:rPr b="0" i="0" u="none" dirty="0">
                <a:solidFill>
                  <a:srgbClr val="E2E8F0"/>
                </a:solidFill>
                <a:latin typeface="Plus Jakarta Sans"/>
              </a:rPr>
              <a:t>gi</a:t>
            </a:r>
            <a:r>
              <a:rPr sz="2000" b="0" i="0" u="none" dirty="0">
                <a:solidFill>
                  <a:srgbClr val="E2E8F0"/>
                </a:solidFill>
                <a:latin typeface="Plus Jakarta Sans"/>
              </a:rPr>
              <a:t>stration with explicit role selection</a:t>
            </a:r>
            <a:r>
              <a:rPr sz="1200" b="0" i="0" u="none" dirty="0">
                <a:solidFill>
                  <a:srgbClr val="E2E8F0"/>
                </a:solidFill>
                <a:latin typeface="Plus Jakarta Sans"/>
              </a:rPr>
              <a:t>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76312" y="4017095"/>
            <a:ext cx="5715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0" i="0" u="none" dirty="0">
                <a:solidFill>
                  <a:srgbClr val="E2E8F0"/>
                </a:solidFill>
                <a:latin typeface="Plus Jakarta Sans"/>
              </a:rPr>
              <a:t>▪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47750" y="3997001"/>
            <a:ext cx="4638675" cy="234038"/>
          </a:xfrm>
          <a:prstGeom prst="rect">
            <a:avLst/>
          </a:prstGeom>
          <a:noFill/>
        </p:spPr>
        <p:txBody>
          <a:bodyPr wrap="square" lIns="57150" tIns="0" rIns="0" bIns="0" anchor="t">
            <a:spAutoFit/>
          </a:bodyPr>
          <a:lstStyle/>
          <a:p>
            <a:pPr algn="l">
              <a:lnSpc>
                <a:spcPts val="1800"/>
              </a:lnSpc>
            </a:pPr>
            <a:r>
              <a:rPr b="0" i="0" u="none" dirty="0">
                <a:solidFill>
                  <a:srgbClr val="E2E8F0"/>
                </a:solidFill>
                <a:latin typeface="Plus Jakarta Sans"/>
              </a:rPr>
              <a:t>Secure credential authentication (</a:t>
            </a:r>
            <a:r>
              <a:rPr b="0" i="0" u="none" dirty="0" err="1">
                <a:solidFill>
                  <a:srgbClr val="E2E8F0"/>
                </a:solidFill>
                <a:latin typeface="Plus Jakarta Sans"/>
              </a:rPr>
              <a:t>bcrypt</a:t>
            </a:r>
            <a:r>
              <a:rPr b="0" i="0" u="none" dirty="0">
                <a:solidFill>
                  <a:srgbClr val="E2E8F0"/>
                </a:solidFill>
                <a:latin typeface="Plus Jakarta Sans"/>
              </a:rPr>
              <a:t> check).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81075" y="4261247"/>
            <a:ext cx="5715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0" i="0" u="none" dirty="0">
                <a:solidFill>
                  <a:srgbClr val="E2E8F0"/>
                </a:solidFill>
                <a:latin typeface="Plus Jakarta Sans"/>
              </a:rPr>
              <a:t>▪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57275" y="4245695"/>
            <a:ext cx="4638675" cy="464871"/>
          </a:xfrm>
          <a:prstGeom prst="rect">
            <a:avLst/>
          </a:prstGeom>
          <a:noFill/>
        </p:spPr>
        <p:txBody>
          <a:bodyPr wrap="square" lIns="57150" tIns="0" rIns="0" bIns="0" anchor="t">
            <a:spAutoFit/>
          </a:bodyPr>
          <a:lstStyle/>
          <a:p>
            <a:pPr algn="l">
              <a:lnSpc>
                <a:spcPts val="1800"/>
              </a:lnSpc>
            </a:pPr>
            <a:r>
              <a:rPr b="0" i="0" u="none" dirty="0">
                <a:solidFill>
                  <a:srgbClr val="E2E8F0"/>
                </a:solidFill>
                <a:latin typeface="Plus Jakarta Sans"/>
              </a:rPr>
              <a:t>Role-Based Access Control (RBAC) session guards.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81075" y="4716592"/>
            <a:ext cx="5715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0" i="0" u="none" dirty="0">
                <a:solidFill>
                  <a:srgbClr val="E2E8F0"/>
                </a:solidFill>
                <a:latin typeface="Plus Jakarta Sans"/>
              </a:rPr>
              <a:t>▪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85850" y="4716592"/>
            <a:ext cx="4638675" cy="234038"/>
          </a:xfrm>
          <a:prstGeom prst="rect">
            <a:avLst/>
          </a:prstGeom>
          <a:noFill/>
        </p:spPr>
        <p:txBody>
          <a:bodyPr wrap="square" lIns="57150" tIns="0" rIns="0" bIns="0" anchor="t">
            <a:spAutoFit/>
          </a:bodyPr>
          <a:lstStyle/>
          <a:p>
            <a:pPr algn="l">
              <a:lnSpc>
                <a:spcPts val="1800"/>
              </a:lnSpc>
            </a:pPr>
            <a:r>
              <a:rPr b="0" i="0" u="none" dirty="0">
                <a:solidFill>
                  <a:srgbClr val="E2E8F0"/>
                </a:solidFill>
                <a:latin typeface="Plus Jakarta Sans"/>
              </a:rPr>
              <a:t>Email / OTP password reset and recovery flow.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81075" y="5065444"/>
            <a:ext cx="5715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0" i="0" u="none" dirty="0">
                <a:solidFill>
                  <a:srgbClr val="E2E8F0"/>
                </a:solidFill>
                <a:latin typeface="Plus Jakarta Sans"/>
              </a:rPr>
              <a:t>▪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63703" y="5065444"/>
            <a:ext cx="4638675" cy="234038"/>
          </a:xfrm>
          <a:prstGeom prst="rect">
            <a:avLst/>
          </a:prstGeom>
          <a:noFill/>
        </p:spPr>
        <p:txBody>
          <a:bodyPr wrap="square" lIns="57150" tIns="0" rIns="0" bIns="0" anchor="t">
            <a:spAutoFit/>
          </a:bodyPr>
          <a:lstStyle/>
          <a:p>
            <a:pPr algn="l">
              <a:lnSpc>
                <a:spcPts val="1800"/>
              </a:lnSpc>
            </a:pPr>
            <a:r>
              <a:rPr b="0" i="0" u="none" dirty="0">
                <a:solidFill>
                  <a:srgbClr val="E2E8F0"/>
                </a:solidFill>
                <a:latin typeface="Plus Jakarta Sans"/>
              </a:rPr>
              <a:t>Secure single-click session logout.</a:t>
            </a:r>
          </a:p>
        </p:txBody>
      </p:sp>
      <p:pic>
        <p:nvPicPr>
          <p:cNvPr id="22" name="Picture 21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534150" y="2675226"/>
            <a:ext cx="171450" cy="202624"/>
          </a:xfrm>
          <a:prstGeom prst="rect">
            <a:avLst/>
          </a:prstGeom>
        </p:spPr>
      </p:pic>
      <p:sp>
        <p:nvSpPr>
          <p:cNvPr id="23" name="TextBox 22"/>
          <p:cNvSpPr txBox="1"/>
          <p:nvPr/>
        </p:nvSpPr>
        <p:spPr>
          <a:xfrm>
            <a:off x="6648450" y="3729037"/>
            <a:ext cx="5715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0" i="0" u="none">
                <a:solidFill>
                  <a:srgbClr val="E2E8F0"/>
                </a:solidFill>
                <a:latin typeface="Plus Jakarta Sans"/>
              </a:rPr>
              <a:t>▪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705600" y="3729037"/>
            <a:ext cx="4638675" cy="464871"/>
          </a:xfrm>
          <a:prstGeom prst="rect">
            <a:avLst/>
          </a:prstGeom>
          <a:noFill/>
        </p:spPr>
        <p:txBody>
          <a:bodyPr wrap="square" lIns="57150" tIns="0" rIns="0" bIns="0" anchor="t">
            <a:spAutoFit/>
          </a:bodyPr>
          <a:lstStyle/>
          <a:p>
            <a:pPr algn="l">
              <a:lnSpc>
                <a:spcPts val="1800"/>
              </a:lnSpc>
            </a:pPr>
            <a:r>
              <a:rPr b="0" i="0" u="none" dirty="0">
                <a:solidFill>
                  <a:srgbClr val="E2E8F0"/>
                </a:solidFill>
                <a:latin typeface="Plus Jakarta Sans"/>
              </a:rPr>
              <a:t>Create event drafts with date, location, guest count.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648450" y="4224121"/>
            <a:ext cx="5715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0" i="0" u="none" dirty="0">
                <a:solidFill>
                  <a:srgbClr val="E2E8F0"/>
                </a:solidFill>
                <a:latin typeface="Plus Jakarta Sans"/>
              </a:rPr>
              <a:t>▪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705600" y="4202458"/>
            <a:ext cx="4638675" cy="234038"/>
          </a:xfrm>
          <a:prstGeom prst="rect">
            <a:avLst/>
          </a:prstGeom>
          <a:noFill/>
        </p:spPr>
        <p:txBody>
          <a:bodyPr wrap="square" lIns="57150" tIns="0" rIns="0" bIns="0" anchor="t">
            <a:spAutoFit/>
          </a:bodyPr>
          <a:lstStyle/>
          <a:p>
            <a:pPr algn="l">
              <a:lnSpc>
                <a:spcPts val="1800"/>
              </a:lnSpc>
            </a:pPr>
            <a:r>
              <a:rPr b="0" i="0" u="none" dirty="0">
                <a:solidFill>
                  <a:srgbClr val="E2E8F0"/>
                </a:solidFill>
                <a:latin typeface="Plus Jakarta Sans"/>
              </a:rPr>
              <a:t>Comprehensive event summary dashboards.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648450" y="4547174"/>
            <a:ext cx="5715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0" i="0" u="none" dirty="0">
                <a:solidFill>
                  <a:srgbClr val="E2E8F0"/>
                </a:solidFill>
                <a:latin typeface="Plus Jakarta Sans"/>
              </a:rPr>
              <a:t>▪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729413" y="4529137"/>
            <a:ext cx="4638675" cy="464871"/>
          </a:xfrm>
          <a:prstGeom prst="rect">
            <a:avLst/>
          </a:prstGeom>
          <a:noFill/>
        </p:spPr>
        <p:txBody>
          <a:bodyPr wrap="square" lIns="57150" tIns="0" rIns="0" bIns="0" anchor="t">
            <a:spAutoFit/>
          </a:bodyPr>
          <a:lstStyle/>
          <a:p>
            <a:pPr algn="l">
              <a:lnSpc>
                <a:spcPts val="1800"/>
              </a:lnSpc>
            </a:pPr>
            <a:r>
              <a:rPr b="0" i="0" u="none" dirty="0">
                <a:solidFill>
                  <a:srgbClr val="E2E8F0"/>
                </a:solidFill>
                <a:latin typeface="Plus Jakarta Sans"/>
              </a:rPr>
              <a:t>Update event parameters during planning phases</a:t>
            </a:r>
            <a:r>
              <a:rPr sz="1200" b="0" i="0" u="none" dirty="0">
                <a:solidFill>
                  <a:srgbClr val="E2E8F0"/>
                </a:solidFill>
                <a:latin typeface="Plus Jakarta Sans"/>
              </a:rPr>
              <a:t>.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648449" y="5004374"/>
            <a:ext cx="5715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0" i="0" u="none" dirty="0">
                <a:solidFill>
                  <a:srgbClr val="E2E8F0"/>
                </a:solidFill>
                <a:latin typeface="Plus Jakarta Sans"/>
              </a:rPr>
              <a:t>▪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705599" y="5004374"/>
            <a:ext cx="4638675" cy="234038"/>
          </a:xfrm>
          <a:prstGeom prst="rect">
            <a:avLst/>
          </a:prstGeom>
          <a:noFill/>
        </p:spPr>
        <p:txBody>
          <a:bodyPr wrap="square" lIns="57150" tIns="0" rIns="0" bIns="0" anchor="t">
            <a:spAutoFit/>
          </a:bodyPr>
          <a:lstStyle/>
          <a:p>
            <a:pPr algn="l">
              <a:lnSpc>
                <a:spcPts val="1800"/>
              </a:lnSpc>
            </a:pPr>
            <a:r>
              <a:rPr b="0" i="0" u="none" dirty="0">
                <a:solidFill>
                  <a:srgbClr val="E2E8F0"/>
                </a:solidFill>
                <a:latin typeface="Plus Jakarta Sans"/>
              </a:rPr>
              <a:t>Event cancellation &amp; deletion mechanisms.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648449" y="5290808"/>
            <a:ext cx="5715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0" i="0" u="none" dirty="0">
                <a:solidFill>
                  <a:srgbClr val="E2E8F0"/>
                </a:solidFill>
                <a:latin typeface="Plus Jakarta Sans"/>
              </a:rPr>
              <a:t>▪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705600" y="5294044"/>
            <a:ext cx="4638675" cy="234038"/>
          </a:xfrm>
          <a:prstGeom prst="rect">
            <a:avLst/>
          </a:prstGeom>
          <a:noFill/>
        </p:spPr>
        <p:txBody>
          <a:bodyPr wrap="square" lIns="57150" tIns="0" rIns="0" bIns="0" anchor="t">
            <a:spAutoFit/>
          </a:bodyPr>
          <a:lstStyle/>
          <a:p>
            <a:pPr algn="l">
              <a:lnSpc>
                <a:spcPts val="1800"/>
              </a:lnSpc>
            </a:pPr>
            <a:r>
              <a:rPr b="0" i="0" u="none" dirty="0">
                <a:solidFill>
                  <a:srgbClr val="E2E8F0"/>
                </a:solidFill>
                <a:latin typeface="Plus Jakarta Sans"/>
              </a:rPr>
              <a:t>Real-time status tracking (Draft to Approved).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571500" y="487576"/>
            <a:ext cx="11601450" cy="415498"/>
          </a:xfrm>
          <a:prstGeom prst="rect">
            <a:avLst/>
          </a:prstGeom>
          <a:solidFill>
            <a:srgbClr val="E52328"/>
          </a:solidFill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lang="en-GB" sz="2700" b="1" i="0" u="none" dirty="0">
                <a:solidFill>
                  <a:srgbClr val="FBB040"/>
                </a:solidFill>
                <a:latin typeface="Space Grotesk"/>
              </a:rPr>
              <a:t> </a:t>
            </a:r>
            <a:r>
              <a:rPr sz="2700" b="1" i="0" u="none" dirty="0">
                <a:solidFill>
                  <a:srgbClr val="FBB040"/>
                </a:solidFill>
                <a:latin typeface="Space Grotesk"/>
              </a:rPr>
              <a:t>Major Functions (1 &amp; 2)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571500" y="914400"/>
            <a:ext cx="76200" cy="304800"/>
          </a:xfrm>
          <a:prstGeom prst="roundRect">
            <a:avLst>
              <a:gd name="adj" fmla="val 50000"/>
            </a:avLst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A0E2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1500" y="2433637"/>
            <a:ext cx="5381625" cy="3595688"/>
          </a:xfrm>
          <a:prstGeom prst="rect">
            <a:avLst/>
          </a:prstGeom>
        </p:spPr>
      </p:pic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38875" y="2433637"/>
            <a:ext cx="5381625" cy="3595688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833437" y="3000374"/>
            <a:ext cx="5070633" cy="3693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400" b="1" i="0" u="none" dirty="0">
                <a:solidFill>
                  <a:srgbClr val="FCD865"/>
                </a:solidFill>
                <a:latin typeface="Space Grotesk"/>
              </a:rPr>
              <a:t>3. Venue &amp; Vendor Booking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47725" y="3433762"/>
            <a:ext cx="4829175" cy="21480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575"/>
              </a:lnSpc>
            </a:pPr>
            <a:r>
              <a:rPr b="0" i="0" u="none" dirty="0">
                <a:solidFill>
                  <a:srgbClr val="FA8228"/>
                </a:solidFill>
                <a:latin typeface="Plus Jakarta Sans SemiBold"/>
              </a:rPr>
              <a:t>Target: Customer, Vendor, Manager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86525" y="2994302"/>
            <a:ext cx="5070633" cy="3693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400" b="1" i="0" u="none" dirty="0">
                <a:solidFill>
                  <a:srgbClr val="FCD865"/>
                </a:solidFill>
                <a:latin typeface="Space Grotesk"/>
              </a:rPr>
              <a:t>4. Schedule &amp; Activity Management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515100" y="3433762"/>
            <a:ext cx="4829175" cy="21480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575"/>
              </a:lnSpc>
            </a:pPr>
            <a:r>
              <a:rPr b="0" i="0" u="none" dirty="0">
                <a:solidFill>
                  <a:srgbClr val="FA8228"/>
                </a:solidFill>
                <a:latin typeface="Plus Jakarta Sans SemiBold"/>
              </a:rPr>
              <a:t>Target: Manager, Ops Staff, Guests</a:t>
            </a:r>
          </a:p>
        </p:txBody>
      </p:sp>
      <p:pic>
        <p:nvPicPr>
          <p:cNvPr id="11" name="Picture 10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33437" y="2633229"/>
            <a:ext cx="238125" cy="281420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981075" y="3729037"/>
            <a:ext cx="5715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0" i="0" u="none">
                <a:solidFill>
                  <a:srgbClr val="E2E8F0"/>
                </a:solidFill>
                <a:latin typeface="Plus Jakarta Sans"/>
              </a:rPr>
              <a:t>▪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38225" y="3729037"/>
            <a:ext cx="4638675" cy="234038"/>
          </a:xfrm>
          <a:prstGeom prst="rect">
            <a:avLst/>
          </a:prstGeom>
          <a:noFill/>
        </p:spPr>
        <p:txBody>
          <a:bodyPr wrap="square" lIns="57150" tIns="0" rIns="0" bIns="0" anchor="t">
            <a:spAutoFit/>
          </a:bodyPr>
          <a:lstStyle/>
          <a:p>
            <a:pPr algn="l">
              <a:lnSpc>
                <a:spcPts val="1800"/>
              </a:lnSpc>
            </a:pPr>
            <a:r>
              <a:rPr b="0" i="0" u="none" dirty="0">
                <a:solidFill>
                  <a:srgbClr val="E2E8F0"/>
                </a:solidFill>
                <a:latin typeface="Plus Jakarta Sans"/>
              </a:rPr>
              <a:t>Filter vendors by availability, category, and price.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81075" y="4004504"/>
            <a:ext cx="5715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0" i="0" u="none" dirty="0">
                <a:solidFill>
                  <a:srgbClr val="E2E8F0"/>
                </a:solidFill>
                <a:latin typeface="Plus Jakarta Sans"/>
              </a:rPr>
              <a:t>▪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49415" y="4004504"/>
            <a:ext cx="4638675" cy="464871"/>
          </a:xfrm>
          <a:prstGeom prst="rect">
            <a:avLst/>
          </a:prstGeom>
          <a:noFill/>
        </p:spPr>
        <p:txBody>
          <a:bodyPr wrap="square" lIns="57150" tIns="0" rIns="0" bIns="0" anchor="t">
            <a:spAutoFit/>
          </a:bodyPr>
          <a:lstStyle/>
          <a:p>
            <a:pPr algn="l">
              <a:lnSpc>
                <a:spcPts val="1800"/>
              </a:lnSpc>
            </a:pPr>
            <a:r>
              <a:rPr b="0" i="0" u="none" dirty="0">
                <a:solidFill>
                  <a:srgbClr val="E2E8F0"/>
                </a:solidFill>
                <a:latin typeface="Plus Jakarta Sans"/>
              </a:rPr>
              <a:t>Real-time slot calendar locks against double-booking</a:t>
            </a:r>
            <a:r>
              <a:rPr sz="1200" b="0" i="0" u="none" dirty="0">
                <a:solidFill>
                  <a:srgbClr val="E2E8F0"/>
                </a:solidFill>
                <a:latin typeface="Plus Jakarta Sans"/>
              </a:rPr>
              <a:t>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81075" y="4500260"/>
            <a:ext cx="5715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0" i="0" u="none" dirty="0">
                <a:solidFill>
                  <a:srgbClr val="E2E8F0"/>
                </a:solidFill>
                <a:latin typeface="Plus Jakarta Sans"/>
              </a:rPr>
              <a:t>▪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49415" y="4500260"/>
            <a:ext cx="4638675" cy="464871"/>
          </a:xfrm>
          <a:prstGeom prst="rect">
            <a:avLst/>
          </a:prstGeom>
          <a:noFill/>
        </p:spPr>
        <p:txBody>
          <a:bodyPr wrap="square" lIns="57150" tIns="0" rIns="0" bIns="0" anchor="t">
            <a:spAutoFit/>
          </a:bodyPr>
          <a:lstStyle/>
          <a:p>
            <a:pPr algn="l">
              <a:lnSpc>
                <a:spcPts val="1800"/>
              </a:lnSpc>
            </a:pPr>
            <a:r>
              <a:rPr b="0" i="0" u="none" dirty="0">
                <a:solidFill>
                  <a:srgbClr val="E2E8F0"/>
                </a:solidFill>
                <a:latin typeface="Plus Jakarta Sans"/>
              </a:rPr>
              <a:t>Direct booking request submission and acceptance</a:t>
            </a:r>
            <a:r>
              <a:rPr sz="1200" b="0" i="0" u="none" dirty="0">
                <a:solidFill>
                  <a:srgbClr val="E2E8F0"/>
                </a:solidFill>
                <a:latin typeface="Plus Jakarta Sans"/>
              </a:rPr>
              <a:t>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81075" y="5012769"/>
            <a:ext cx="5715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0" i="0" u="none" dirty="0">
                <a:solidFill>
                  <a:srgbClr val="E2E8F0"/>
                </a:solidFill>
                <a:latin typeface="Plus Jakarta Sans"/>
              </a:rPr>
              <a:t>▪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71562" y="4993476"/>
            <a:ext cx="4638675" cy="464871"/>
          </a:xfrm>
          <a:prstGeom prst="rect">
            <a:avLst/>
          </a:prstGeom>
          <a:noFill/>
        </p:spPr>
        <p:txBody>
          <a:bodyPr wrap="square" lIns="57150" tIns="0" rIns="0" bIns="0" anchor="t">
            <a:spAutoFit/>
          </a:bodyPr>
          <a:lstStyle/>
          <a:p>
            <a:pPr algn="l">
              <a:lnSpc>
                <a:spcPts val="1800"/>
              </a:lnSpc>
            </a:pPr>
            <a:r>
              <a:rPr b="0" i="0" u="none" dirty="0">
                <a:solidFill>
                  <a:srgbClr val="E2E8F0"/>
                </a:solidFill>
                <a:latin typeface="Plus Jakarta Sans"/>
              </a:rPr>
              <a:t>Process booking payments &amp; log transaction status</a:t>
            </a:r>
            <a:r>
              <a:rPr sz="1200" b="0" i="0" u="none" dirty="0">
                <a:solidFill>
                  <a:srgbClr val="E2E8F0"/>
                </a:solidFill>
                <a:latin typeface="Plus Jakarta Sans"/>
              </a:rPr>
              <a:t>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81075" y="5492333"/>
            <a:ext cx="5715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0" i="0" u="none" dirty="0">
                <a:solidFill>
                  <a:srgbClr val="E2E8F0"/>
                </a:solidFill>
                <a:latin typeface="Plus Jakarta Sans"/>
              </a:rPr>
              <a:t>▪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49415" y="5486895"/>
            <a:ext cx="4638675" cy="234038"/>
          </a:xfrm>
          <a:prstGeom prst="rect">
            <a:avLst/>
          </a:prstGeom>
          <a:noFill/>
        </p:spPr>
        <p:txBody>
          <a:bodyPr wrap="square" lIns="57150" tIns="0" rIns="0" bIns="0" anchor="t">
            <a:spAutoFit/>
          </a:bodyPr>
          <a:lstStyle/>
          <a:p>
            <a:pPr algn="l">
              <a:lnSpc>
                <a:spcPts val="1800"/>
              </a:lnSpc>
            </a:pPr>
            <a:r>
              <a:rPr b="0" i="0" u="none" dirty="0">
                <a:solidFill>
                  <a:srgbClr val="E2E8F0"/>
                </a:solidFill>
                <a:latin typeface="Plus Jakarta Sans"/>
              </a:rPr>
              <a:t>Modify or cancel existing vendor reservations</a:t>
            </a:r>
            <a:r>
              <a:rPr sz="1200" b="0" i="0" u="none" dirty="0">
                <a:solidFill>
                  <a:srgbClr val="E2E8F0"/>
                </a:solidFill>
                <a:latin typeface="Plus Jakarta Sans"/>
              </a:rPr>
              <a:t>.</a:t>
            </a:r>
          </a:p>
        </p:txBody>
      </p:sp>
      <p:pic>
        <p:nvPicPr>
          <p:cNvPr id="22" name="Picture 21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86525" y="2665267"/>
            <a:ext cx="219075" cy="258907"/>
          </a:xfrm>
          <a:prstGeom prst="rect">
            <a:avLst/>
          </a:prstGeom>
        </p:spPr>
      </p:pic>
      <p:sp>
        <p:nvSpPr>
          <p:cNvPr id="23" name="TextBox 22"/>
          <p:cNvSpPr txBox="1"/>
          <p:nvPr/>
        </p:nvSpPr>
        <p:spPr>
          <a:xfrm>
            <a:off x="6648450" y="3729037"/>
            <a:ext cx="5715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0" i="0" u="none">
                <a:solidFill>
                  <a:srgbClr val="E2E8F0"/>
                </a:solidFill>
                <a:latin typeface="Plus Jakarta Sans"/>
              </a:rPr>
              <a:t>▪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705600" y="3729037"/>
            <a:ext cx="4638675" cy="234038"/>
          </a:xfrm>
          <a:prstGeom prst="rect">
            <a:avLst/>
          </a:prstGeom>
          <a:noFill/>
        </p:spPr>
        <p:txBody>
          <a:bodyPr wrap="square" lIns="57150" tIns="0" rIns="0" bIns="0" anchor="t">
            <a:spAutoFit/>
          </a:bodyPr>
          <a:lstStyle/>
          <a:p>
            <a:pPr algn="l">
              <a:lnSpc>
                <a:spcPts val="1800"/>
              </a:lnSpc>
            </a:pPr>
            <a:r>
              <a:rPr b="0" i="0" u="none" dirty="0">
                <a:solidFill>
                  <a:srgbClr val="E2E8F0"/>
                </a:solidFill>
                <a:latin typeface="Plus Jakarta Sans"/>
              </a:rPr>
              <a:t>Construct master activity timelines for events</a:t>
            </a:r>
            <a:r>
              <a:rPr sz="1200" b="0" i="0" u="none" dirty="0">
                <a:solidFill>
                  <a:srgbClr val="E2E8F0"/>
                </a:solidFill>
                <a:latin typeface="Plus Jakarta Sans"/>
              </a:rPr>
              <a:t>.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648450" y="4032815"/>
            <a:ext cx="5715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0" i="0" u="none" dirty="0">
                <a:solidFill>
                  <a:srgbClr val="E2E8F0"/>
                </a:solidFill>
                <a:latin typeface="Plus Jakarta Sans"/>
              </a:rPr>
              <a:t>▪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705600" y="4015087"/>
            <a:ext cx="4638675" cy="464871"/>
          </a:xfrm>
          <a:prstGeom prst="rect">
            <a:avLst/>
          </a:prstGeom>
          <a:noFill/>
        </p:spPr>
        <p:txBody>
          <a:bodyPr wrap="square" lIns="57150" tIns="0" rIns="0" bIns="0" anchor="t">
            <a:spAutoFit/>
          </a:bodyPr>
          <a:lstStyle/>
          <a:p>
            <a:pPr algn="l">
              <a:lnSpc>
                <a:spcPts val="1800"/>
              </a:lnSpc>
            </a:pPr>
            <a:r>
              <a:rPr b="0" i="0" u="none" dirty="0">
                <a:solidFill>
                  <a:srgbClr val="E2E8F0"/>
                </a:solidFill>
                <a:latin typeface="Plus Jakarta Sans"/>
              </a:rPr>
              <a:t>Assign operational tasks to specific staff members.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648450" y="4542102"/>
            <a:ext cx="5715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0" i="0" u="none" dirty="0">
                <a:solidFill>
                  <a:srgbClr val="E2E8F0"/>
                </a:solidFill>
                <a:latin typeface="Plus Jakarta Sans"/>
              </a:rPr>
              <a:t>▪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705600" y="4545079"/>
            <a:ext cx="4638675" cy="234038"/>
          </a:xfrm>
          <a:prstGeom prst="rect">
            <a:avLst/>
          </a:prstGeom>
          <a:noFill/>
        </p:spPr>
        <p:txBody>
          <a:bodyPr wrap="square" lIns="57150" tIns="0" rIns="0" bIns="0" anchor="t">
            <a:spAutoFit/>
          </a:bodyPr>
          <a:lstStyle/>
          <a:p>
            <a:pPr algn="l">
              <a:lnSpc>
                <a:spcPts val="1800"/>
              </a:lnSpc>
            </a:pPr>
            <a:r>
              <a:rPr b="0" i="0" u="none" dirty="0">
                <a:solidFill>
                  <a:srgbClr val="E2E8F0"/>
                </a:solidFill>
                <a:latin typeface="Plus Jakarta Sans"/>
              </a:rPr>
              <a:t>Update task execution status in real-time.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648450" y="4900988"/>
            <a:ext cx="5715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0" i="0" u="none" dirty="0">
                <a:solidFill>
                  <a:srgbClr val="E2E8F0"/>
                </a:solidFill>
                <a:latin typeface="Plus Jakarta Sans"/>
              </a:rPr>
              <a:t>▪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705600" y="4898369"/>
            <a:ext cx="4638675" cy="234038"/>
          </a:xfrm>
          <a:prstGeom prst="rect">
            <a:avLst/>
          </a:prstGeom>
          <a:noFill/>
        </p:spPr>
        <p:txBody>
          <a:bodyPr wrap="square" lIns="57150" tIns="0" rIns="0" bIns="0" anchor="t">
            <a:spAutoFit/>
          </a:bodyPr>
          <a:lstStyle/>
          <a:p>
            <a:pPr algn="l">
              <a:lnSpc>
                <a:spcPts val="1800"/>
              </a:lnSpc>
            </a:pPr>
            <a:r>
              <a:rPr b="0" i="0" u="none" dirty="0">
                <a:solidFill>
                  <a:srgbClr val="E2E8F0"/>
                </a:solidFill>
                <a:latin typeface="Plus Jakarta Sans"/>
              </a:rPr>
              <a:t>Multi-event visual calendar view integration.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648450" y="5224999"/>
            <a:ext cx="5715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0" i="0" u="none" dirty="0">
                <a:solidFill>
                  <a:srgbClr val="E2E8F0"/>
                </a:solidFill>
                <a:latin typeface="Plus Jakarta Sans"/>
              </a:rPr>
              <a:t>▪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705600" y="5198606"/>
            <a:ext cx="4638675" cy="234038"/>
          </a:xfrm>
          <a:prstGeom prst="rect">
            <a:avLst/>
          </a:prstGeom>
          <a:noFill/>
        </p:spPr>
        <p:txBody>
          <a:bodyPr wrap="square" lIns="57150" tIns="0" rIns="0" bIns="0" anchor="t">
            <a:spAutoFit/>
          </a:bodyPr>
          <a:lstStyle/>
          <a:p>
            <a:pPr algn="l">
              <a:lnSpc>
                <a:spcPts val="1800"/>
              </a:lnSpc>
            </a:pPr>
            <a:r>
              <a:rPr b="0" i="0" u="none" dirty="0">
                <a:solidFill>
                  <a:srgbClr val="E2E8F0"/>
                </a:solidFill>
                <a:latin typeface="Plus Jakarta Sans"/>
              </a:rPr>
              <a:t>Automated notification alerts for task deadlines.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571500" y="476250"/>
            <a:ext cx="11601450" cy="438150"/>
          </a:xfrm>
          <a:prstGeom prst="rect">
            <a:avLst/>
          </a:prstGeom>
          <a:solidFill>
            <a:srgbClr val="E52328"/>
          </a:solidFill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2700" b="1" i="0" u="none">
                <a:solidFill>
                  <a:srgbClr val="FBB040"/>
                </a:solidFill>
                <a:latin typeface="Space Grotesk"/>
              </a:rPr>
              <a:t>Major Functions (3 &amp; 4)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571500" y="914400"/>
            <a:ext cx="76200" cy="304800"/>
          </a:xfrm>
          <a:prstGeom prst="roundRect">
            <a:avLst>
              <a:gd name="adj" fmla="val 50000"/>
            </a:avLst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A0E2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1500" y="2295525"/>
            <a:ext cx="5381625" cy="3819525"/>
          </a:xfrm>
          <a:prstGeom prst="rect">
            <a:avLst/>
          </a:prstGeom>
        </p:spPr>
      </p:pic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38875" y="2295525"/>
            <a:ext cx="5381625" cy="3819525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847725" y="2984566"/>
            <a:ext cx="5070633" cy="3693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400" b="1" i="0" u="none" dirty="0">
                <a:solidFill>
                  <a:srgbClr val="FCD865"/>
                </a:solidFill>
                <a:latin typeface="Space Grotesk"/>
              </a:rPr>
              <a:t>5. Inventory &amp; Equipment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47725" y="3433762"/>
            <a:ext cx="4829175" cy="21480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575"/>
              </a:lnSpc>
            </a:pPr>
            <a:r>
              <a:rPr b="0" i="0" u="none" dirty="0">
                <a:solidFill>
                  <a:srgbClr val="FA8228"/>
                </a:solidFill>
                <a:latin typeface="Plus Jakarta Sans SemiBold"/>
              </a:rPr>
              <a:t>Target: Inventory Staff, Manager, Admin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524625" y="2937162"/>
            <a:ext cx="5070633" cy="3693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400" b="1" i="0" u="none" dirty="0">
                <a:solidFill>
                  <a:srgbClr val="FCD865"/>
                </a:solidFill>
                <a:latin typeface="Space Grotesk"/>
              </a:rPr>
              <a:t>6. Customer &amp; Profile Management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515100" y="3433762"/>
            <a:ext cx="4829175" cy="21480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575"/>
              </a:lnSpc>
            </a:pPr>
            <a:r>
              <a:rPr b="0" i="0" u="none" dirty="0">
                <a:solidFill>
                  <a:srgbClr val="FA8228"/>
                </a:solidFill>
                <a:latin typeface="Plus Jakarta Sans SemiBold"/>
              </a:rPr>
              <a:t>Target: Customer, Manager, Admin</a:t>
            </a:r>
          </a:p>
        </p:txBody>
      </p:sp>
      <p:pic>
        <p:nvPicPr>
          <p:cNvPr id="11" name="Picture 10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71537" y="2676524"/>
            <a:ext cx="219075" cy="258907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981075" y="3729037"/>
            <a:ext cx="5715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0" i="0" u="none" dirty="0">
                <a:solidFill>
                  <a:srgbClr val="E2E8F0"/>
                </a:solidFill>
                <a:latin typeface="Plus Jakarta Sans"/>
              </a:rPr>
              <a:t>▪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38225" y="3729037"/>
            <a:ext cx="4638675" cy="234038"/>
          </a:xfrm>
          <a:prstGeom prst="rect">
            <a:avLst/>
          </a:prstGeom>
          <a:noFill/>
        </p:spPr>
        <p:txBody>
          <a:bodyPr wrap="square" lIns="57150" tIns="0" rIns="0" bIns="0" anchor="t">
            <a:spAutoFit/>
          </a:bodyPr>
          <a:lstStyle/>
          <a:p>
            <a:pPr algn="l">
              <a:lnSpc>
                <a:spcPts val="1800"/>
              </a:lnSpc>
            </a:pPr>
            <a:r>
              <a:rPr b="0" i="0" u="none" dirty="0">
                <a:solidFill>
                  <a:srgbClr val="E2E8F0"/>
                </a:solidFill>
                <a:latin typeface="Plus Jakarta Sans"/>
              </a:rPr>
              <a:t>Add and categorize physical assets (AV, seating).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71548" y="4034952"/>
            <a:ext cx="5715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0" i="0" u="none" dirty="0">
                <a:solidFill>
                  <a:srgbClr val="E2E8F0"/>
                </a:solidFill>
                <a:latin typeface="Plus Jakarta Sans"/>
              </a:rPr>
              <a:t>▪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28698" y="4006662"/>
            <a:ext cx="4638675" cy="464871"/>
          </a:xfrm>
          <a:prstGeom prst="rect">
            <a:avLst/>
          </a:prstGeom>
          <a:noFill/>
        </p:spPr>
        <p:txBody>
          <a:bodyPr wrap="square" lIns="57150" tIns="0" rIns="0" bIns="0" anchor="t">
            <a:spAutoFit/>
          </a:bodyPr>
          <a:lstStyle/>
          <a:p>
            <a:pPr algn="l">
              <a:lnSpc>
                <a:spcPts val="1800"/>
              </a:lnSpc>
            </a:pPr>
            <a:r>
              <a:rPr b="0" i="0" u="none" dirty="0">
                <a:solidFill>
                  <a:srgbClr val="E2E8F0"/>
                </a:solidFill>
                <a:latin typeface="Plus Jakarta Sans"/>
              </a:rPr>
              <a:t>Track real-time stock allocation across active events.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66785" y="4454179"/>
            <a:ext cx="5715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0" i="0" u="none" dirty="0">
                <a:solidFill>
                  <a:srgbClr val="E2E8F0"/>
                </a:solidFill>
                <a:latin typeface="Plus Jakarta Sans"/>
              </a:rPr>
              <a:t>▪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38225" y="4471714"/>
            <a:ext cx="4638675" cy="234038"/>
          </a:xfrm>
          <a:prstGeom prst="rect">
            <a:avLst/>
          </a:prstGeom>
          <a:noFill/>
        </p:spPr>
        <p:txBody>
          <a:bodyPr wrap="square" lIns="57150" tIns="0" rIns="0" bIns="0" anchor="t">
            <a:spAutoFit/>
          </a:bodyPr>
          <a:lstStyle/>
          <a:p>
            <a:pPr algn="l">
              <a:lnSpc>
                <a:spcPts val="1800"/>
              </a:lnSpc>
            </a:pPr>
            <a:r>
              <a:rPr b="0" i="0" u="none" dirty="0">
                <a:solidFill>
                  <a:srgbClr val="E2E8F0"/>
                </a:solidFill>
                <a:latin typeface="Plus Jakarta Sans"/>
              </a:rPr>
              <a:t>Stock level updates upon damage or addition.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52500" y="4757737"/>
            <a:ext cx="5715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0" i="0" u="none" dirty="0">
                <a:solidFill>
                  <a:srgbClr val="E2E8F0"/>
                </a:solidFill>
                <a:latin typeface="Plus Jakarta Sans"/>
              </a:rPr>
              <a:t>▪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09650" y="4748219"/>
            <a:ext cx="4638675" cy="464871"/>
          </a:xfrm>
          <a:prstGeom prst="rect">
            <a:avLst/>
          </a:prstGeom>
          <a:noFill/>
        </p:spPr>
        <p:txBody>
          <a:bodyPr wrap="square" lIns="57150" tIns="0" rIns="0" bIns="0" anchor="t">
            <a:spAutoFit/>
          </a:bodyPr>
          <a:lstStyle/>
          <a:p>
            <a:pPr algn="l">
              <a:lnSpc>
                <a:spcPts val="1800"/>
              </a:lnSpc>
            </a:pPr>
            <a:r>
              <a:rPr b="0" i="0" u="none" dirty="0">
                <a:solidFill>
                  <a:srgbClr val="E2E8F0"/>
                </a:solidFill>
                <a:latin typeface="Plus Jakarta Sans"/>
              </a:rPr>
              <a:t>Reserve specific item quantities per event schedule.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71546" y="5261635"/>
            <a:ext cx="5715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0" i="0" u="none" dirty="0">
                <a:solidFill>
                  <a:srgbClr val="E2E8F0"/>
                </a:solidFill>
                <a:latin typeface="Plus Jakarta Sans"/>
              </a:rPr>
              <a:t>▪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09649" y="5257800"/>
            <a:ext cx="4638675" cy="464871"/>
          </a:xfrm>
          <a:prstGeom prst="rect">
            <a:avLst/>
          </a:prstGeom>
          <a:noFill/>
        </p:spPr>
        <p:txBody>
          <a:bodyPr wrap="square" lIns="57150" tIns="0" rIns="0" bIns="0" anchor="t">
            <a:spAutoFit/>
          </a:bodyPr>
          <a:lstStyle/>
          <a:p>
            <a:pPr algn="l">
              <a:lnSpc>
                <a:spcPts val="1800"/>
              </a:lnSpc>
            </a:pPr>
            <a:r>
              <a:rPr b="0" i="0" u="none" dirty="0">
                <a:solidFill>
                  <a:srgbClr val="E2E8F0"/>
                </a:solidFill>
                <a:latin typeface="Plus Jakarta Sans"/>
              </a:rPr>
              <a:t>Record post-event returns &amp; asset condition reports.</a:t>
            </a:r>
          </a:p>
        </p:txBody>
      </p:sp>
      <p:pic>
        <p:nvPicPr>
          <p:cNvPr id="22" name="Picture 21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548437" y="2700769"/>
            <a:ext cx="200025" cy="236393"/>
          </a:xfrm>
          <a:prstGeom prst="rect">
            <a:avLst/>
          </a:prstGeom>
        </p:spPr>
      </p:pic>
      <p:sp>
        <p:nvSpPr>
          <p:cNvPr id="23" name="TextBox 22"/>
          <p:cNvSpPr txBox="1"/>
          <p:nvPr/>
        </p:nvSpPr>
        <p:spPr>
          <a:xfrm>
            <a:off x="6648450" y="3729037"/>
            <a:ext cx="5715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0" i="0" u="none">
                <a:solidFill>
                  <a:srgbClr val="E2E8F0"/>
                </a:solidFill>
                <a:latin typeface="Plus Jakarta Sans"/>
              </a:rPr>
              <a:t>▪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705600" y="3708832"/>
            <a:ext cx="4638675" cy="464871"/>
          </a:xfrm>
          <a:prstGeom prst="rect">
            <a:avLst/>
          </a:prstGeom>
          <a:noFill/>
        </p:spPr>
        <p:txBody>
          <a:bodyPr wrap="square" lIns="57150" tIns="0" rIns="0" bIns="0" anchor="t">
            <a:spAutoFit/>
          </a:bodyPr>
          <a:lstStyle/>
          <a:p>
            <a:pPr algn="l">
              <a:lnSpc>
                <a:spcPts val="1800"/>
              </a:lnSpc>
            </a:pPr>
            <a:r>
              <a:rPr b="0" i="0" u="none" dirty="0">
                <a:solidFill>
                  <a:srgbClr val="E2E8F0"/>
                </a:solidFill>
                <a:latin typeface="Plus Jakarta Sans"/>
              </a:rPr>
              <a:t>Maintain structured customer profiles &amp; contact info</a:t>
            </a:r>
            <a:r>
              <a:rPr sz="1200" b="0" i="0" u="none" dirty="0">
                <a:solidFill>
                  <a:srgbClr val="E2E8F0"/>
                </a:solidFill>
                <a:latin typeface="Plus Jakarta Sans"/>
              </a:rPr>
              <a:t>.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648450" y="4147220"/>
            <a:ext cx="5715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0" i="0" u="none" dirty="0">
                <a:solidFill>
                  <a:srgbClr val="E2E8F0"/>
                </a:solidFill>
                <a:latin typeface="Plus Jakarta Sans"/>
              </a:rPr>
              <a:t>▪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705600" y="4147220"/>
            <a:ext cx="4638675" cy="464871"/>
          </a:xfrm>
          <a:prstGeom prst="rect">
            <a:avLst/>
          </a:prstGeom>
          <a:noFill/>
        </p:spPr>
        <p:txBody>
          <a:bodyPr wrap="square" lIns="57150" tIns="0" rIns="0" bIns="0" anchor="t">
            <a:spAutoFit/>
          </a:bodyPr>
          <a:lstStyle/>
          <a:p>
            <a:pPr algn="l">
              <a:lnSpc>
                <a:spcPts val="1800"/>
              </a:lnSpc>
            </a:pPr>
            <a:r>
              <a:rPr b="0" i="0" u="none" dirty="0">
                <a:solidFill>
                  <a:srgbClr val="E2E8F0"/>
                </a:solidFill>
                <a:latin typeface="Plus Jakarta Sans"/>
              </a:rPr>
              <a:t>Log interaction history and customer preferences</a:t>
            </a:r>
            <a:r>
              <a:rPr sz="1200" b="0" i="0" u="none" dirty="0">
                <a:solidFill>
                  <a:srgbClr val="E2E8F0"/>
                </a:solidFill>
                <a:latin typeface="Plus Jakarta Sans"/>
              </a:rPr>
              <a:t>.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648450" y="4619762"/>
            <a:ext cx="5715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0" i="0" u="none" dirty="0">
                <a:solidFill>
                  <a:srgbClr val="E2E8F0"/>
                </a:solidFill>
                <a:latin typeface="Plus Jakarta Sans"/>
              </a:rPr>
              <a:t>▪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705599" y="4612091"/>
            <a:ext cx="4638675" cy="464871"/>
          </a:xfrm>
          <a:prstGeom prst="rect">
            <a:avLst/>
          </a:prstGeom>
          <a:noFill/>
        </p:spPr>
        <p:txBody>
          <a:bodyPr wrap="square" lIns="57150" tIns="0" rIns="0" bIns="0" anchor="t">
            <a:spAutoFit/>
          </a:bodyPr>
          <a:lstStyle/>
          <a:p>
            <a:pPr algn="l">
              <a:lnSpc>
                <a:spcPts val="1800"/>
              </a:lnSpc>
            </a:pPr>
            <a:r>
              <a:rPr b="0" i="0" u="none" dirty="0">
                <a:solidFill>
                  <a:srgbClr val="E2E8F0"/>
                </a:solidFill>
                <a:latin typeface="Plus Jakarta Sans"/>
              </a:rPr>
              <a:t>Update customer preference and communication settings.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648449" y="5101692"/>
            <a:ext cx="5715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0" i="0" u="none" dirty="0">
                <a:solidFill>
                  <a:srgbClr val="E2E8F0"/>
                </a:solidFill>
                <a:latin typeface="Plus Jakarta Sans"/>
              </a:rPr>
              <a:t>▪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677025" y="5076962"/>
            <a:ext cx="4638675" cy="464871"/>
          </a:xfrm>
          <a:prstGeom prst="rect">
            <a:avLst/>
          </a:prstGeom>
          <a:noFill/>
        </p:spPr>
        <p:txBody>
          <a:bodyPr wrap="square" lIns="57150" tIns="0" rIns="0" bIns="0" anchor="t">
            <a:spAutoFit/>
          </a:bodyPr>
          <a:lstStyle/>
          <a:p>
            <a:pPr algn="l">
              <a:lnSpc>
                <a:spcPts val="1800"/>
              </a:lnSpc>
            </a:pPr>
            <a:r>
              <a:rPr b="0" i="0" u="none" dirty="0">
                <a:solidFill>
                  <a:srgbClr val="E2E8F0"/>
                </a:solidFill>
                <a:latin typeface="Plus Jakarta Sans"/>
              </a:rPr>
              <a:t>Retrieve historic booking data and financial summaries.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648450" y="5608371"/>
            <a:ext cx="5715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0" i="0" u="none" dirty="0">
                <a:solidFill>
                  <a:srgbClr val="E2E8F0"/>
                </a:solidFill>
                <a:latin typeface="Plus Jakarta Sans"/>
              </a:rPr>
              <a:t>▪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677025" y="5575463"/>
            <a:ext cx="4638675" cy="464871"/>
          </a:xfrm>
          <a:prstGeom prst="rect">
            <a:avLst/>
          </a:prstGeom>
          <a:noFill/>
        </p:spPr>
        <p:txBody>
          <a:bodyPr wrap="square" lIns="57150" tIns="0" rIns="0" bIns="0" anchor="t">
            <a:spAutoFit/>
          </a:bodyPr>
          <a:lstStyle/>
          <a:p>
            <a:pPr algn="l">
              <a:lnSpc>
                <a:spcPts val="1800"/>
              </a:lnSpc>
            </a:pPr>
            <a:r>
              <a:rPr b="0" i="0" u="none" dirty="0">
                <a:solidFill>
                  <a:srgbClr val="E2E8F0"/>
                </a:solidFill>
                <a:latin typeface="Plus Jakarta Sans"/>
              </a:rPr>
              <a:t>Archive or safely remove inactive customer entries.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571500" y="476250"/>
            <a:ext cx="11601450" cy="438150"/>
          </a:xfrm>
          <a:prstGeom prst="rect">
            <a:avLst/>
          </a:prstGeom>
          <a:solidFill>
            <a:srgbClr val="E52328"/>
          </a:solidFill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2700" b="1" i="0" u="none">
                <a:solidFill>
                  <a:srgbClr val="FBB040"/>
                </a:solidFill>
                <a:latin typeface="Space Grotesk"/>
              </a:rPr>
              <a:t>Major Functions (5 &amp; 6)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571500" y="914400"/>
            <a:ext cx="76200" cy="304800"/>
          </a:xfrm>
          <a:prstGeom prst="roundRect">
            <a:avLst>
              <a:gd name="adj" fmla="val 50000"/>
            </a:avLst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A0E2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1500" y="2495549"/>
            <a:ext cx="2619375" cy="2847975"/>
          </a:xfrm>
          <a:prstGeom prst="rect">
            <a:avLst/>
          </a:prstGeom>
        </p:spPr>
      </p:pic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381375" y="2495550"/>
            <a:ext cx="2619375" cy="2847974"/>
          </a:xfrm>
          <a:prstGeom prst="rect">
            <a:avLst/>
          </a:prstGeom>
        </p:spPr>
      </p:pic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91250" y="2495549"/>
            <a:ext cx="2619375" cy="2847973"/>
          </a:xfrm>
          <a:prstGeom prst="rect">
            <a:avLst/>
          </a:prstGeom>
        </p:spPr>
      </p:pic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001125" y="2495550"/>
            <a:ext cx="2619375" cy="2847972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809625" y="3305175"/>
            <a:ext cx="2250281" cy="276999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b="1" i="0" u="none" dirty="0">
                <a:solidFill>
                  <a:srgbClr val="FCD865"/>
                </a:solidFill>
                <a:latin typeface="Space Grotesk"/>
              </a:rPr>
              <a:t>Session Management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09625" y="3933825"/>
            <a:ext cx="2143125" cy="115416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800"/>
              </a:lnSpc>
            </a:pPr>
            <a:r>
              <a:rPr sz="1600" b="0" i="0" u="none" dirty="0">
                <a:solidFill>
                  <a:srgbClr val="E2E8F0"/>
                </a:solidFill>
                <a:latin typeface="Plus Jakarta Sans"/>
              </a:rPr>
              <a:t>Standardized login and secure logout handling, providing encrypted session tokens across all modules.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619500" y="3305175"/>
            <a:ext cx="2250281" cy="276999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b="1" i="0" u="none" dirty="0">
                <a:solidFill>
                  <a:srgbClr val="FCD865"/>
                </a:solidFill>
                <a:latin typeface="Space Grotesk"/>
              </a:rPr>
              <a:t>Password Recovery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619500" y="3838575"/>
            <a:ext cx="2143125" cy="115416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800"/>
              </a:lnSpc>
            </a:pPr>
            <a:r>
              <a:rPr sz="1600" b="0" i="0" u="none" dirty="0">
                <a:solidFill>
                  <a:srgbClr val="E2E8F0"/>
                </a:solidFill>
                <a:latin typeface="Plus Jakarta Sans"/>
              </a:rPr>
              <a:t>Email-based recovery links or temporary verification codes allowing users to safely regain account access.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29375" y="3305175"/>
            <a:ext cx="2250281" cy="276999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b="1" i="0" u="none" dirty="0">
                <a:solidFill>
                  <a:srgbClr val="FCD865"/>
                </a:solidFill>
                <a:latin typeface="Space Grotesk"/>
              </a:rPr>
              <a:t>System Notifications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29375" y="3933825"/>
            <a:ext cx="2143125" cy="115416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800"/>
              </a:lnSpc>
            </a:pPr>
            <a:r>
              <a:rPr sz="1600" b="0" i="0" u="none" dirty="0">
                <a:solidFill>
                  <a:srgbClr val="E2E8F0"/>
                </a:solidFill>
                <a:latin typeface="Plus Jakarta Sans"/>
              </a:rPr>
              <a:t>Automated email and in-app alerts sending real-time updates regarding booking approvals and tasks.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239250" y="3305175"/>
            <a:ext cx="2250281" cy="276999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b="1" i="0" u="none" dirty="0">
                <a:solidFill>
                  <a:srgbClr val="FCD865"/>
                </a:solidFill>
                <a:latin typeface="Space Grotesk"/>
              </a:rPr>
              <a:t>Data Reporting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239249" y="3884164"/>
            <a:ext cx="2143125" cy="11573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800"/>
              </a:lnSpc>
            </a:pPr>
            <a:r>
              <a:rPr sz="1600" b="0" i="0" u="none" dirty="0">
                <a:solidFill>
                  <a:srgbClr val="E2E8F0"/>
                </a:solidFill>
                <a:latin typeface="Plus Jakarta Sans"/>
              </a:rPr>
              <a:t>Basic statistical exports delivering PDF/CSV summaries for event costs, booking history, and system usage.</a:t>
            </a:r>
          </a:p>
        </p:txBody>
      </p:sp>
      <p:pic>
        <p:nvPicPr>
          <p:cNvPr id="15" name="Picture 14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09625" y="2790825"/>
            <a:ext cx="342900" cy="342900"/>
          </a:xfrm>
          <a:prstGeom prst="rect">
            <a:avLst/>
          </a:prstGeom>
        </p:spPr>
      </p:pic>
      <p:pic>
        <p:nvPicPr>
          <p:cNvPr id="16" name="Picture 15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619500" y="2790825"/>
            <a:ext cx="342900" cy="342900"/>
          </a:xfrm>
          <a:prstGeom prst="rect">
            <a:avLst/>
          </a:prstGeom>
        </p:spPr>
      </p:pic>
      <p:pic>
        <p:nvPicPr>
          <p:cNvPr id="17" name="Picture 16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429375" y="2790825"/>
            <a:ext cx="304800" cy="342900"/>
          </a:xfrm>
          <a:prstGeom prst="rect">
            <a:avLst/>
          </a:prstGeom>
        </p:spPr>
      </p:pic>
      <p:pic>
        <p:nvPicPr>
          <p:cNvPr id="18" name="Picture 17" descr="imag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9239250" y="2790825"/>
            <a:ext cx="342900" cy="342900"/>
          </a:xfrm>
          <a:prstGeom prst="rect">
            <a:avLst/>
          </a:prstGeom>
        </p:spPr>
      </p:pic>
      <p:sp>
        <p:nvSpPr>
          <p:cNvPr id="19" name="TextBox 18"/>
          <p:cNvSpPr txBox="1"/>
          <p:nvPr/>
        </p:nvSpPr>
        <p:spPr>
          <a:xfrm>
            <a:off x="571500" y="487576"/>
            <a:ext cx="11601450" cy="415498"/>
          </a:xfrm>
          <a:prstGeom prst="rect">
            <a:avLst/>
          </a:prstGeom>
          <a:solidFill>
            <a:srgbClr val="E52328"/>
          </a:solidFill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lang="en-GB" sz="2700" b="1" i="0" u="none" dirty="0">
                <a:solidFill>
                  <a:srgbClr val="FBB040"/>
                </a:solidFill>
                <a:latin typeface="Space Grotesk"/>
              </a:rPr>
              <a:t> </a:t>
            </a:r>
            <a:r>
              <a:rPr sz="2700" b="1" i="0" u="none" dirty="0">
                <a:solidFill>
                  <a:srgbClr val="FBB040"/>
                </a:solidFill>
                <a:latin typeface="Space Grotesk"/>
              </a:rPr>
              <a:t>Minor Supporting Functions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71500" y="914400"/>
            <a:ext cx="76200" cy="304800"/>
          </a:xfrm>
          <a:prstGeom prst="roundRect">
            <a:avLst>
              <a:gd name="adj" fmla="val 50000"/>
            </a:avLst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A0E2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914400" y="2775941"/>
            <a:ext cx="10706100" cy="49411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912"/>
              </a:lnSpc>
            </a:pPr>
            <a:r>
              <a:rPr sz="2000" b="1" i="0" u="none" dirty="0">
                <a:solidFill>
                  <a:srgbClr val="FCD865"/>
                </a:solidFill>
                <a:latin typeface="Plus Jakarta Sans"/>
              </a:rPr>
              <a:t>Browser Requirements:</a:t>
            </a:r>
            <a:r>
              <a:rPr sz="2000" b="0" i="0" u="none" dirty="0">
                <a:solidFill>
                  <a:srgbClr val="E2E8F0"/>
                </a:solidFill>
                <a:latin typeface="Plus Jakarta Sans"/>
              </a:rPr>
              <a:t> Requires modern web browsers (Chrome, Firefox, Safari, Edge) with JavaScript enabled.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3440310"/>
            <a:ext cx="10706100" cy="49411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912"/>
              </a:lnSpc>
            </a:pPr>
            <a:r>
              <a:rPr sz="2000" b="1" i="0" u="none" dirty="0">
                <a:solidFill>
                  <a:srgbClr val="FCD865"/>
                </a:solidFill>
                <a:latin typeface="Plus Jakarta Sans"/>
              </a:rPr>
              <a:t>Network Dependence:</a:t>
            </a:r>
            <a:r>
              <a:rPr sz="2000" b="0" i="0" u="none" dirty="0">
                <a:solidFill>
                  <a:srgbClr val="E2E8F0"/>
                </a:solidFill>
                <a:latin typeface="Plus Jakarta Sans"/>
              </a:rPr>
              <a:t> Real-time database synchronization requires an active internet connection; no offline mode in V1.0.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4082652"/>
            <a:ext cx="10706100" cy="49411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912"/>
              </a:lnSpc>
            </a:pPr>
            <a:r>
              <a:rPr sz="2000" b="1" i="0" u="none" dirty="0">
                <a:solidFill>
                  <a:srgbClr val="FCD865"/>
                </a:solidFill>
                <a:latin typeface="Plus Jakarta Sans"/>
              </a:rPr>
              <a:t>Third-Party API Limits:</a:t>
            </a:r>
            <a:r>
              <a:rPr sz="2000" b="0" i="0" u="none" dirty="0">
                <a:solidFill>
                  <a:srgbClr val="E2E8F0"/>
                </a:solidFill>
                <a:latin typeface="Plus Jakarta Sans"/>
              </a:rPr>
              <a:t> External email and notification services are subject to third-party rate limits and gateway operational costs</a:t>
            </a:r>
            <a:r>
              <a:rPr sz="1275" b="0" i="0" u="none" dirty="0">
                <a:solidFill>
                  <a:srgbClr val="E2E8F0"/>
                </a:solidFill>
                <a:latin typeface="Plus Jakarta Sans"/>
              </a:rPr>
              <a:t>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4747021"/>
            <a:ext cx="10706100" cy="49411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912"/>
              </a:lnSpc>
            </a:pPr>
            <a:r>
              <a:rPr sz="2000" b="1" i="0" u="none" dirty="0">
                <a:solidFill>
                  <a:srgbClr val="FCD865"/>
                </a:solidFill>
                <a:latin typeface="Plus Jakarta Sans"/>
              </a:rPr>
              <a:t>Payment Scope Assumption:</a:t>
            </a:r>
            <a:r>
              <a:rPr sz="2000" b="0" i="0" u="none" dirty="0">
                <a:solidFill>
                  <a:srgbClr val="E2E8F0"/>
                </a:solidFill>
                <a:latin typeface="Plus Jakarta Sans"/>
              </a:rPr>
              <a:t> Version 1.0 records payment status logs; direct payment gateway handling (e.g., Stripe) is reserved for future expansion.</a:t>
            </a:r>
          </a:p>
        </p:txBody>
      </p:sp>
      <p:pic>
        <p:nvPicPr>
          <p:cNvPr id="7" name="Picture 6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1500" y="2822971"/>
            <a:ext cx="190500" cy="200025"/>
          </a:xfrm>
          <a:prstGeom prst="rect">
            <a:avLst/>
          </a:prstGeom>
        </p:spPr>
      </p:pic>
      <p:pic>
        <p:nvPicPr>
          <p:cNvPr id="8" name="Picture 7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71500" y="3483767"/>
            <a:ext cx="238125" cy="200025"/>
          </a:xfrm>
          <a:prstGeom prst="rect">
            <a:avLst/>
          </a:prstGeom>
        </p:spPr>
      </p:pic>
      <p:pic>
        <p:nvPicPr>
          <p:cNvPr id="9" name="Picture 8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71500" y="4126705"/>
            <a:ext cx="219075" cy="200025"/>
          </a:xfrm>
          <a:prstGeom prst="rect">
            <a:avLst/>
          </a:prstGeom>
        </p:spPr>
      </p:pic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76262" y="4797623"/>
            <a:ext cx="142875" cy="200025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571500" y="487576"/>
            <a:ext cx="11601450" cy="415498"/>
          </a:xfrm>
          <a:prstGeom prst="rect">
            <a:avLst/>
          </a:prstGeom>
          <a:solidFill>
            <a:srgbClr val="E52328"/>
          </a:solidFill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lang="en-GB" sz="2700" b="1" i="0" u="none" dirty="0">
                <a:solidFill>
                  <a:srgbClr val="FBB040"/>
                </a:solidFill>
                <a:latin typeface="Space Grotesk"/>
              </a:rPr>
              <a:t> </a:t>
            </a:r>
            <a:r>
              <a:rPr sz="2700" b="1" i="0" u="none" dirty="0">
                <a:solidFill>
                  <a:srgbClr val="FBB040"/>
                </a:solidFill>
                <a:latin typeface="Space Grotesk"/>
              </a:rPr>
              <a:t>Limitations &amp; Constraints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71500" y="914400"/>
            <a:ext cx="76200" cy="304800"/>
          </a:xfrm>
          <a:prstGeom prst="roundRect">
            <a:avLst>
              <a:gd name="adj" fmla="val 50000"/>
            </a:avLst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A0E2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050" y="-47625"/>
            <a:ext cx="12192000" cy="68580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1500" y="3771900"/>
            <a:ext cx="11049000" cy="38100"/>
          </a:xfrm>
          <a:prstGeom prst="rect">
            <a:avLst/>
          </a:prstGeom>
        </p:spPr>
      </p:pic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71499" y="3981449"/>
            <a:ext cx="1601985" cy="1152526"/>
          </a:xfrm>
          <a:prstGeom prst="rect">
            <a:avLst/>
          </a:prstGeom>
        </p:spPr>
      </p:pic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173485" y="2638425"/>
            <a:ext cx="1601986" cy="1040668"/>
          </a:xfrm>
          <a:prstGeom prst="rect">
            <a:avLst/>
          </a:prstGeom>
        </p:spPr>
      </p:pic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775471" y="3981449"/>
            <a:ext cx="1604986" cy="1152525"/>
          </a:xfrm>
          <a:prstGeom prst="rect">
            <a:avLst/>
          </a:prstGeom>
        </p:spPr>
      </p:pic>
      <p:pic>
        <p:nvPicPr>
          <p:cNvPr id="7" name="Picture 6" descr="imag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377457" y="2638425"/>
            <a:ext cx="1601986" cy="1040668"/>
          </a:xfrm>
          <a:prstGeom prst="rect">
            <a:avLst/>
          </a:prstGeom>
        </p:spPr>
      </p:pic>
      <p:pic>
        <p:nvPicPr>
          <p:cNvPr id="8" name="Picture 7" descr="image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979443" y="3981449"/>
            <a:ext cx="1601986" cy="1152525"/>
          </a:xfrm>
          <a:prstGeom prst="rect">
            <a:avLst/>
          </a:prstGeom>
        </p:spPr>
      </p:pic>
      <p:pic>
        <p:nvPicPr>
          <p:cNvPr id="9" name="Picture 8" descr="image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8581429" y="2609850"/>
            <a:ext cx="1601986" cy="1069243"/>
          </a:xfrm>
          <a:prstGeom prst="rect">
            <a:avLst/>
          </a:prstGeom>
        </p:spPr>
      </p:pic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183414" y="3981449"/>
            <a:ext cx="1625051" cy="1152525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625602" y="4086225"/>
            <a:ext cx="1328134" cy="24622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600" b="1" i="0" u="none" dirty="0">
                <a:solidFill>
                  <a:srgbClr val="FCD865"/>
                </a:solidFill>
                <a:latin typeface="Space Grotesk"/>
              </a:rPr>
              <a:t>Week 3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88846" y="4312741"/>
            <a:ext cx="1264890" cy="5831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ts val="1072"/>
              </a:lnSpc>
            </a:pPr>
            <a:r>
              <a:rPr sz="1600" b="0" i="0" u="none" dirty="0">
                <a:solidFill>
                  <a:srgbClr val="CBD5E1"/>
                </a:solidFill>
                <a:latin typeface="Plus Jakarta Sans"/>
              </a:rPr>
              <a:t>Proposal Submission &amp; Viva Presentation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259210" y="2762606"/>
            <a:ext cx="1328134" cy="24622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600" b="1" i="0" u="none" dirty="0">
                <a:solidFill>
                  <a:srgbClr val="FCD865"/>
                </a:solidFill>
                <a:latin typeface="Space Grotesk"/>
              </a:rPr>
              <a:t>Week 4-5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281690" y="3065977"/>
            <a:ext cx="1328134" cy="4420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ts val="1072"/>
              </a:lnSpc>
            </a:pPr>
            <a:r>
              <a:rPr sz="1600" b="0" i="0" u="none" dirty="0">
                <a:solidFill>
                  <a:srgbClr val="CBD5E1"/>
                </a:solidFill>
                <a:latin typeface="Plus Jakarta Sans"/>
              </a:rPr>
              <a:t>SRS Drafting,</a:t>
            </a:r>
            <a:r>
              <a:rPr lang="en-GB" sz="1600" b="0" i="0" u="none" dirty="0">
                <a:solidFill>
                  <a:srgbClr val="CBD5E1"/>
                </a:solidFill>
                <a:latin typeface="Plus Jakarta Sans"/>
              </a:rPr>
              <a:t> </a:t>
            </a:r>
            <a:r>
              <a:rPr sz="1600" b="0" i="0" u="none" dirty="0">
                <a:solidFill>
                  <a:srgbClr val="CBD5E1"/>
                </a:solidFill>
                <a:latin typeface="Plus Jakarta Sans"/>
              </a:rPr>
              <a:t> Use Cases &amp;</a:t>
            </a:r>
            <a:r>
              <a:rPr lang="en-GB" sz="1600" b="0" i="0" u="none" dirty="0">
                <a:solidFill>
                  <a:srgbClr val="CBD5E1"/>
                </a:solidFill>
                <a:latin typeface="Plus Jakarta Sans"/>
              </a:rPr>
              <a:t> </a:t>
            </a:r>
            <a:r>
              <a:rPr sz="1600" b="0" i="0" u="none" dirty="0">
                <a:solidFill>
                  <a:srgbClr val="CBD5E1"/>
                </a:solidFill>
                <a:latin typeface="Plus Jakarta Sans"/>
              </a:rPr>
              <a:t> Architecture</a:t>
            </a:r>
            <a:r>
              <a:rPr lang="en-GB" sz="1600" b="0" i="0" u="none" dirty="0">
                <a:solidFill>
                  <a:srgbClr val="CBD5E1"/>
                </a:solidFill>
                <a:latin typeface="Plus Jakarta Sans"/>
              </a:rPr>
              <a:t> </a:t>
            </a:r>
            <a:endParaRPr sz="1600" b="0" i="0" u="none" dirty="0">
              <a:solidFill>
                <a:srgbClr val="CBD5E1"/>
              </a:solidFill>
              <a:latin typeface="Plus Jakarta Sans"/>
            </a:endParaRPr>
          </a:p>
        </p:txBody>
      </p:sp>
      <p:sp>
        <p:nvSpPr>
          <p:cNvPr id="15" name="TextBox 14"/>
          <p:cNvSpPr txBox="1"/>
          <p:nvPr/>
        </p:nvSpPr>
        <p:spPr>
          <a:xfrm>
            <a:off x="3829574" y="4086225"/>
            <a:ext cx="1328134" cy="24622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600" b="1" i="0" u="none" dirty="0">
                <a:solidFill>
                  <a:srgbClr val="FCD865"/>
                </a:solidFill>
                <a:latin typeface="Space Grotesk"/>
              </a:rPr>
              <a:t>Week 6-7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937396" y="4527202"/>
            <a:ext cx="1264890" cy="4420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ts val="1072"/>
              </a:lnSpc>
            </a:pPr>
            <a:r>
              <a:rPr sz="1600" b="0" i="0" u="none" dirty="0">
                <a:solidFill>
                  <a:srgbClr val="CBD5E1"/>
                </a:solidFill>
                <a:latin typeface="Plus Jakarta Sans"/>
              </a:rPr>
              <a:t>Database ERD, Wireframes &amp; Setup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431560" y="2791687"/>
            <a:ext cx="1328134" cy="24622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600" b="1" i="0" u="none" dirty="0">
                <a:solidFill>
                  <a:srgbClr val="FCD865"/>
                </a:solidFill>
                <a:latin typeface="Space Grotesk"/>
              </a:rPr>
              <a:t>Week 8-10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539382" y="3109199"/>
            <a:ext cx="1264890" cy="5831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ts val="1072"/>
              </a:lnSpc>
            </a:pPr>
            <a:r>
              <a:rPr sz="1600" b="0" i="0" u="none" dirty="0">
                <a:solidFill>
                  <a:srgbClr val="CBD5E1"/>
                </a:solidFill>
                <a:latin typeface="Plus Jakarta Sans"/>
              </a:rPr>
              <a:t>Backend API &amp; DB Implementation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078124" y="4086225"/>
            <a:ext cx="1328134" cy="24622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600" b="1" i="0" u="none" dirty="0">
                <a:solidFill>
                  <a:srgbClr val="FCD865"/>
                </a:solidFill>
                <a:latin typeface="Space Grotesk"/>
              </a:rPr>
              <a:t>Week 11-12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141368" y="4554735"/>
            <a:ext cx="1264890" cy="4420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ts val="1072"/>
              </a:lnSpc>
            </a:pPr>
            <a:r>
              <a:rPr sz="1600" b="0" i="0" u="none" dirty="0">
                <a:solidFill>
                  <a:srgbClr val="CBD5E1"/>
                </a:solidFill>
                <a:latin typeface="Plus Jakarta Sans"/>
              </a:rPr>
              <a:t>Frontend Development &amp; Integration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667154" y="2752872"/>
            <a:ext cx="1328134" cy="2154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400" b="1" i="0" u="none" dirty="0">
                <a:solidFill>
                  <a:srgbClr val="FCD865"/>
                </a:solidFill>
                <a:latin typeface="Space Grotesk"/>
              </a:rPr>
              <a:t>Week 13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727793" y="3061123"/>
            <a:ext cx="1264890" cy="5831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ts val="1072"/>
              </a:lnSpc>
            </a:pPr>
            <a:r>
              <a:rPr sz="1600" b="0" i="0" u="none" dirty="0">
                <a:solidFill>
                  <a:srgbClr val="CBD5E1"/>
                </a:solidFill>
                <a:latin typeface="Plus Jakarta Sans"/>
              </a:rPr>
              <a:t>UAT Testing, Bug Fixes &amp; </a:t>
            </a:r>
            <a:r>
              <a:rPr sz="1600" b="0" i="0" u="none" dirty="0" err="1">
                <a:solidFill>
                  <a:srgbClr val="CBD5E1"/>
                </a:solidFill>
                <a:latin typeface="Plus Jakarta Sans"/>
              </a:rPr>
              <a:t>Documentatio</a:t>
            </a:r>
            <a:r>
              <a:rPr lang="en-GB" sz="1600" b="0" i="0" u="none" dirty="0">
                <a:solidFill>
                  <a:srgbClr val="CBD5E1"/>
                </a:solidFill>
                <a:latin typeface="Plus Jakarta Sans"/>
              </a:rPr>
              <a:t>-</a:t>
            </a:r>
            <a:r>
              <a:rPr sz="1600" b="0" i="0" u="none" dirty="0">
                <a:solidFill>
                  <a:srgbClr val="CBD5E1"/>
                </a:solidFill>
                <a:latin typeface="Plus Jakarta Sans"/>
              </a:rPr>
              <a:t>n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309673" y="4066520"/>
            <a:ext cx="1328134" cy="24622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600" b="1" i="0" u="none" dirty="0">
                <a:solidFill>
                  <a:srgbClr val="FCD865"/>
                </a:solidFill>
                <a:latin typeface="Space Grotesk"/>
              </a:rPr>
              <a:t>Week 14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0382251" y="4571850"/>
            <a:ext cx="1264890" cy="4420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ts val="1072"/>
              </a:lnSpc>
            </a:pPr>
            <a:r>
              <a:rPr sz="1600" b="0" i="0" u="none" dirty="0">
                <a:solidFill>
                  <a:srgbClr val="CBD5E1"/>
                </a:solidFill>
                <a:latin typeface="Plus Jakarta Sans"/>
              </a:rPr>
              <a:t>Code Freeze, Deployment &amp; Final Viva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71500" y="476250"/>
            <a:ext cx="11601450" cy="438150"/>
          </a:xfrm>
          <a:prstGeom prst="rect">
            <a:avLst/>
          </a:prstGeom>
          <a:solidFill>
            <a:srgbClr val="E52328"/>
          </a:solidFill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2700" b="1" i="0" u="none">
                <a:solidFill>
                  <a:srgbClr val="FBB040"/>
                </a:solidFill>
                <a:latin typeface="Space Grotesk"/>
              </a:rPr>
              <a:t>Project Timeline (Week 3 - 14)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571500" y="914400"/>
            <a:ext cx="76200" cy="304800"/>
          </a:xfrm>
          <a:prstGeom prst="roundRect">
            <a:avLst>
              <a:gd name="adj" fmla="val 50000"/>
            </a:avLst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Rounded Rectangle 26"/>
          <p:cNvSpPr/>
          <p:nvPr/>
        </p:nvSpPr>
        <p:spPr>
          <a:xfrm>
            <a:off x="1213470" y="3714750"/>
            <a:ext cx="152400" cy="152400"/>
          </a:xfrm>
          <a:prstGeom prst="roundRect">
            <a:avLst>
              <a:gd name="adj" fmla="val 50000"/>
            </a:avLst>
          </a:prstGeom>
          <a:solidFill>
            <a:srgbClr val="1A0E2E"/>
          </a:solidFill>
          <a:ln w="28575">
            <a:solidFill>
              <a:srgbClr val="FBB04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Rounded Rectangle 27"/>
          <p:cNvSpPr/>
          <p:nvPr/>
        </p:nvSpPr>
        <p:spPr>
          <a:xfrm>
            <a:off x="2815456" y="3714750"/>
            <a:ext cx="152400" cy="152400"/>
          </a:xfrm>
          <a:prstGeom prst="roundRect">
            <a:avLst>
              <a:gd name="adj" fmla="val 50000"/>
            </a:avLst>
          </a:prstGeom>
          <a:solidFill>
            <a:srgbClr val="1A0E2E"/>
          </a:solidFill>
          <a:ln w="28575">
            <a:solidFill>
              <a:srgbClr val="FBB04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Rounded Rectangle 28"/>
          <p:cNvSpPr/>
          <p:nvPr/>
        </p:nvSpPr>
        <p:spPr>
          <a:xfrm>
            <a:off x="4417441" y="3714750"/>
            <a:ext cx="152400" cy="152400"/>
          </a:xfrm>
          <a:prstGeom prst="roundRect">
            <a:avLst>
              <a:gd name="adj" fmla="val 50000"/>
            </a:avLst>
          </a:prstGeom>
          <a:solidFill>
            <a:srgbClr val="1A0E2E"/>
          </a:solidFill>
          <a:ln w="28575">
            <a:solidFill>
              <a:srgbClr val="FBB04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Rounded Rectangle 29"/>
          <p:cNvSpPr/>
          <p:nvPr/>
        </p:nvSpPr>
        <p:spPr>
          <a:xfrm>
            <a:off x="6019427" y="3714750"/>
            <a:ext cx="152400" cy="152400"/>
          </a:xfrm>
          <a:prstGeom prst="roundRect">
            <a:avLst>
              <a:gd name="adj" fmla="val 50000"/>
            </a:avLst>
          </a:prstGeom>
          <a:solidFill>
            <a:srgbClr val="1A0E2E"/>
          </a:solidFill>
          <a:ln w="28575">
            <a:solidFill>
              <a:srgbClr val="FBB04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Rounded Rectangle 30"/>
          <p:cNvSpPr/>
          <p:nvPr/>
        </p:nvSpPr>
        <p:spPr>
          <a:xfrm>
            <a:off x="7621413" y="3714750"/>
            <a:ext cx="152400" cy="152400"/>
          </a:xfrm>
          <a:prstGeom prst="roundRect">
            <a:avLst>
              <a:gd name="adj" fmla="val 50000"/>
            </a:avLst>
          </a:prstGeom>
          <a:solidFill>
            <a:srgbClr val="1A0E2E"/>
          </a:solidFill>
          <a:ln w="28575">
            <a:solidFill>
              <a:srgbClr val="FBB04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Rounded Rectangle 31"/>
          <p:cNvSpPr/>
          <p:nvPr/>
        </p:nvSpPr>
        <p:spPr>
          <a:xfrm>
            <a:off x="9223399" y="3714750"/>
            <a:ext cx="152400" cy="152400"/>
          </a:xfrm>
          <a:prstGeom prst="roundRect">
            <a:avLst>
              <a:gd name="adj" fmla="val 50000"/>
            </a:avLst>
          </a:prstGeom>
          <a:solidFill>
            <a:srgbClr val="1A0E2E"/>
          </a:solidFill>
          <a:ln w="28575">
            <a:solidFill>
              <a:srgbClr val="FBB04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Rounded Rectangle 32"/>
          <p:cNvSpPr/>
          <p:nvPr/>
        </p:nvSpPr>
        <p:spPr>
          <a:xfrm>
            <a:off x="10825385" y="3714750"/>
            <a:ext cx="152400" cy="152400"/>
          </a:xfrm>
          <a:prstGeom prst="roundRect">
            <a:avLst>
              <a:gd name="adj" fmla="val 50000"/>
            </a:avLst>
          </a:prstGeom>
          <a:solidFill>
            <a:srgbClr val="1A0E2E"/>
          </a:solidFill>
          <a:ln w="28575">
            <a:solidFill>
              <a:srgbClr val="FBB04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A0E2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267325" y="1771650"/>
            <a:ext cx="1752599" cy="333375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2095500" y="2200275"/>
            <a:ext cx="8001000" cy="6762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4200" b="1" i="0" u="none" dirty="0">
                <a:solidFill>
                  <a:srgbClr val="FFFFFF"/>
                </a:solidFill>
                <a:latin typeface="Space Grotesk"/>
              </a:rPr>
              <a:t>Conclusion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286000" y="3390900"/>
            <a:ext cx="7620000" cy="914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ts val="2400"/>
              </a:lnSpc>
            </a:pPr>
            <a:r>
              <a:rPr sz="2000" b="0" i="0" u="none" dirty="0">
                <a:solidFill>
                  <a:srgbClr val="E2E8F0"/>
                </a:solidFill>
                <a:latin typeface="Plus Jakarta Sans"/>
              </a:rPr>
              <a:t>The proposed </a:t>
            </a:r>
            <a:r>
              <a:rPr sz="2000" b="1" i="0" u="none" dirty="0">
                <a:solidFill>
                  <a:srgbClr val="E2E8F0"/>
                </a:solidFill>
                <a:latin typeface="Plus Jakarta Sans"/>
              </a:rPr>
              <a:t>Web-Based Event Planning System</a:t>
            </a:r>
            <a:r>
              <a:rPr sz="2000" b="0" i="0" u="none" dirty="0">
                <a:solidFill>
                  <a:srgbClr val="E2E8F0"/>
                </a:solidFill>
                <a:latin typeface="Plus Jakarta Sans"/>
              </a:rPr>
              <a:t> directly eliminates communication gaps, manual scheduling errors, double bookings, and asset misallocations.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286000" y="4495800"/>
            <a:ext cx="7620000" cy="73776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ts val="1912"/>
              </a:lnSpc>
            </a:pPr>
            <a:r>
              <a:rPr sz="2000" b="0" i="0" u="none" dirty="0">
                <a:solidFill>
                  <a:srgbClr val="FCD865"/>
                </a:solidFill>
                <a:latin typeface="Plus Jakarta Sans"/>
              </a:rPr>
              <a:t>By unifying all stakeholder operations under 6 clear, member-owned functional modules with incremental sprint integrations, our team is well-positioned to complete the project on schedule</a:t>
            </a:r>
            <a:r>
              <a:rPr sz="1275" b="0" i="0" u="none" dirty="0">
                <a:solidFill>
                  <a:srgbClr val="FCD865"/>
                </a:solidFill>
                <a:latin typeface="Plus Jakarta Sans"/>
              </a:rPr>
              <a:t>.</a:t>
            </a:r>
          </a:p>
        </p:txBody>
      </p:sp>
      <p:sp>
        <p:nvSpPr>
          <p:cNvPr id="7" name="Shape 0">
            <a:extLst>
              <a:ext uri="{FF2B5EF4-FFF2-40B4-BE49-F238E27FC236}">
                <a16:creationId xmlns:a16="http://schemas.microsoft.com/office/drawing/2014/main" id="{77D6FD4D-8EE4-4551-B8FE-B7BB240C33B5}"/>
              </a:ext>
            </a:extLst>
          </p:cNvPr>
          <p:cNvSpPr/>
          <p:nvPr/>
        </p:nvSpPr>
        <p:spPr>
          <a:xfrm>
            <a:off x="8046720" y="5542863"/>
            <a:ext cx="1005840" cy="1005840"/>
          </a:xfrm>
          <a:prstGeom prst="ellipse">
            <a:avLst/>
          </a:prstGeom>
          <a:solidFill>
            <a:srgbClr val="B00026"/>
          </a:solidFill>
          <a:ln/>
        </p:spPr>
      </p:sp>
      <p:sp>
        <p:nvSpPr>
          <p:cNvPr id="8" name="Shape 1">
            <a:extLst>
              <a:ext uri="{FF2B5EF4-FFF2-40B4-BE49-F238E27FC236}">
                <a16:creationId xmlns:a16="http://schemas.microsoft.com/office/drawing/2014/main" id="{327A6E4C-4DCD-447B-8945-EDDF13118C01}"/>
              </a:ext>
            </a:extLst>
          </p:cNvPr>
          <p:cNvSpPr/>
          <p:nvPr/>
        </p:nvSpPr>
        <p:spPr>
          <a:xfrm>
            <a:off x="8670341" y="5542863"/>
            <a:ext cx="1005840" cy="1005840"/>
          </a:xfrm>
          <a:prstGeom prst="ellipse">
            <a:avLst/>
          </a:prstGeom>
          <a:solidFill>
            <a:srgbClr val="E3191C"/>
          </a:solidFill>
          <a:ln/>
        </p:spPr>
      </p:sp>
      <p:sp>
        <p:nvSpPr>
          <p:cNvPr id="9" name="Shape 2">
            <a:extLst>
              <a:ext uri="{FF2B5EF4-FFF2-40B4-BE49-F238E27FC236}">
                <a16:creationId xmlns:a16="http://schemas.microsoft.com/office/drawing/2014/main" id="{A83E1434-5905-4A7B-9C1E-95433439156E}"/>
              </a:ext>
            </a:extLst>
          </p:cNvPr>
          <p:cNvSpPr/>
          <p:nvPr/>
        </p:nvSpPr>
        <p:spPr>
          <a:xfrm>
            <a:off x="9304629" y="5542863"/>
            <a:ext cx="1005840" cy="1005840"/>
          </a:xfrm>
          <a:prstGeom prst="ellipse">
            <a:avLst/>
          </a:prstGeom>
          <a:solidFill>
            <a:srgbClr val="FC4E2B"/>
          </a:solidFill>
          <a:ln/>
        </p:spPr>
      </p:sp>
      <p:sp>
        <p:nvSpPr>
          <p:cNvPr id="10" name="Shape 3">
            <a:extLst>
              <a:ext uri="{FF2B5EF4-FFF2-40B4-BE49-F238E27FC236}">
                <a16:creationId xmlns:a16="http://schemas.microsoft.com/office/drawing/2014/main" id="{F278A2AC-81B7-4554-AC14-58BBD2704DE9}"/>
              </a:ext>
            </a:extLst>
          </p:cNvPr>
          <p:cNvSpPr/>
          <p:nvPr/>
        </p:nvSpPr>
        <p:spPr>
          <a:xfrm>
            <a:off x="9928250" y="5542863"/>
            <a:ext cx="1005840" cy="1005840"/>
          </a:xfrm>
          <a:prstGeom prst="ellipse">
            <a:avLst/>
          </a:prstGeom>
          <a:solidFill>
            <a:srgbClr val="FFB24C"/>
          </a:solidFill>
          <a:ln/>
        </p:spPr>
      </p:sp>
      <p:sp>
        <p:nvSpPr>
          <p:cNvPr id="11" name="Shape 4">
            <a:extLst>
              <a:ext uri="{FF2B5EF4-FFF2-40B4-BE49-F238E27FC236}">
                <a16:creationId xmlns:a16="http://schemas.microsoft.com/office/drawing/2014/main" id="{DB4F2380-A5E5-4905-A5F5-93FD879E2917}"/>
              </a:ext>
            </a:extLst>
          </p:cNvPr>
          <p:cNvSpPr/>
          <p:nvPr/>
        </p:nvSpPr>
        <p:spPr>
          <a:xfrm>
            <a:off x="10568824" y="5542863"/>
            <a:ext cx="1005840" cy="1005840"/>
          </a:xfrm>
          <a:prstGeom prst="ellipse">
            <a:avLst/>
          </a:prstGeom>
          <a:solidFill>
            <a:srgbClr val="FFDA75"/>
          </a:solidFill>
          <a:ln/>
        </p:spPr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A0E2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57487" y="4010025"/>
            <a:ext cx="6677025" cy="581025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295275" y="2266950"/>
            <a:ext cx="11601450" cy="876300"/>
          </a:xfrm>
          <a:prstGeom prst="rect">
            <a:avLst/>
          </a:prstGeom>
          <a:solidFill>
            <a:srgbClr val="FF532B"/>
          </a:solidFill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5400" b="1" i="0" u="none" dirty="0">
                <a:solidFill>
                  <a:srgbClr val="FFFFFF"/>
                </a:solidFill>
                <a:latin typeface="Space Grotesk"/>
              </a:rPr>
              <a:t>Questions &amp; Discussion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71500" y="3286125"/>
            <a:ext cx="11049000" cy="32739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ts val="2700"/>
              </a:lnSpc>
            </a:pPr>
            <a:r>
              <a:rPr sz="2000" b="0" i="0" u="none" dirty="0">
                <a:solidFill>
                  <a:srgbClr val="FFD89B"/>
                </a:solidFill>
                <a:latin typeface="Plus Jakarta Sans"/>
              </a:rPr>
              <a:t>Thank you for your time!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118</TotalTime>
  <Words>1229</Words>
  <Application>Microsoft Office PowerPoint</Application>
  <PresentationFormat>Widescreen</PresentationFormat>
  <Paragraphs>180</Paragraphs>
  <Slides>14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22" baseType="lpstr">
      <vt:lpstr>Arial</vt:lpstr>
      <vt:lpstr>Calibri</vt:lpstr>
      <vt:lpstr>Cambria</vt:lpstr>
      <vt:lpstr>Plus Jakarta Sans</vt:lpstr>
      <vt:lpstr>Plus Jakarta Sans Medium</vt:lpstr>
      <vt:lpstr>Plus Jakarta Sans SemiBold</vt:lpstr>
      <vt:lpstr>Space Grotesk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subject/>
  <dc:creator>PC</dc:creator>
  <cp:keywords/>
  <dc:description>generated using python-pptx</dc:description>
  <cp:lastModifiedBy>Lasandu Wickramarathne</cp:lastModifiedBy>
  <cp:revision>4</cp:revision>
  <dcterms:created xsi:type="dcterms:W3CDTF">2013-01-27T09:14:16Z</dcterms:created>
  <dcterms:modified xsi:type="dcterms:W3CDTF">2026-07-28T15:36:24Z</dcterms:modified>
  <cp:category/>
</cp:coreProperties>
</file>